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grsJbwi1VDdsCJP74QxkIdaG6g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2A5011-61DB-448C-B092-908C2093CFC1}">
  <a:tblStyle styleId="{032A5011-61DB-448C-B092-908C2093CFC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antaproject.org/monitoring-and-evaluation/household-hunger-scale-hhs" TargetMode="External"/><Relationship Id="rId3" Type="http://schemas.openxmlformats.org/officeDocument/2006/relationships/hyperlink" Target="https://www.fantaproject.org/monitoring-and-evaluation/household-hunger-scale-hh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The </a:t>
            </a:r>
            <a:r>
              <a:rPr b="1" lang="en-US">
                <a:latin typeface="Times New Roman"/>
                <a:ea typeface="Times New Roman"/>
                <a:cs typeface="Times New Roman"/>
                <a:sym typeface="Times New Roman"/>
              </a:rPr>
              <a:t>HFIAS</a:t>
            </a:r>
            <a:r>
              <a:rPr lang="en-US">
                <a:latin typeface="Times New Roman"/>
                <a:ea typeface="Times New Roman"/>
                <a:cs typeface="Times New Roman"/>
                <a:sym typeface="Times New Roman"/>
              </a:rPr>
              <a:t> (Household Food Insecurity Access Scale) and </a:t>
            </a:r>
            <a:r>
              <a:rPr b="1" lang="en-US">
                <a:latin typeface="Times New Roman"/>
                <a:ea typeface="Times New Roman"/>
                <a:cs typeface="Times New Roman"/>
                <a:sym typeface="Times New Roman"/>
              </a:rPr>
              <a:t>CARI</a:t>
            </a:r>
            <a:r>
              <a:rPr lang="en-US">
                <a:latin typeface="Times New Roman"/>
                <a:ea typeface="Times New Roman"/>
                <a:cs typeface="Times New Roman"/>
                <a:sym typeface="Times New Roman"/>
              </a:rPr>
              <a:t> (Consolidated Approach for Reporting Indicators of Food Security) are standardized survey tools used to measure and classify household food insecurity. HFIAS focuses on psychological and behavioral access, while CARI combines multiple metrics into a unified classification scale.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rPr b="1" lang="en-US">
                <a:latin typeface="Times New Roman"/>
                <a:ea typeface="Times New Roman"/>
                <a:cs typeface="Times New Roman"/>
                <a:sym typeface="Times New Roman"/>
              </a:rPr>
              <a:t>HFIAS (Household Food Insecurity Access Scale)</a:t>
            </a:r>
            <a:r>
              <a:rPr lang="en-US">
                <a:latin typeface="Times New Roman"/>
                <a:ea typeface="Times New Roman"/>
                <a:cs typeface="Times New Roman"/>
                <a:sym typeface="Times New Roman"/>
              </a:rPr>
              <a:t>: A 9-question tool measuring a household's anxiety, uncertainty, and behavioral changes regarding food access over a 30-day recall period, scoring severity from 0 to 27</a:t>
            </a:r>
            <a:endParaRPr>
              <a:latin typeface="Times New Roman"/>
              <a:ea typeface="Times New Roman"/>
              <a:cs typeface="Times New Roman"/>
              <a:sym typeface="Times New Roman"/>
            </a:endParaRPr>
          </a:p>
          <a:p>
            <a:pPr indent="0" lvl="0" marL="0" rtl="0" algn="l">
              <a:spcBef>
                <a:spcPts val="0"/>
              </a:spcBef>
              <a:spcAft>
                <a:spcPts val="0"/>
              </a:spcAft>
              <a:buNone/>
            </a:pPr>
            <a:r>
              <a:rPr b="1" lang="en-US">
                <a:latin typeface="Times New Roman"/>
                <a:ea typeface="Times New Roman"/>
                <a:cs typeface="Times New Roman"/>
                <a:sym typeface="Times New Roman"/>
              </a:rPr>
              <a:t>CARI (Consolidated Approach for Reporting Indicators of Food Security)</a:t>
            </a:r>
            <a:r>
              <a:rPr lang="en-US">
                <a:latin typeface="Times New Roman"/>
                <a:ea typeface="Times New Roman"/>
                <a:cs typeface="Times New Roman"/>
                <a:sym typeface="Times New Roman"/>
              </a:rPr>
              <a:t>: Developed by the World Food Programme, this composite method classifies households into four distinct security categories (food secure, marginally, moderately, or severely insecure) using metrics like food consumption and coping strategies</a:t>
            </a:r>
            <a:endParaRPr>
              <a:latin typeface="Times New Roman"/>
              <a:ea typeface="Times New Roman"/>
              <a:cs typeface="Times New Roman"/>
              <a:sym typeface="Times New Roman"/>
            </a:endParaRPr>
          </a:p>
        </p:txBody>
      </p:sp>
      <p:sp>
        <p:nvSpPr>
          <p:cNvPr id="106" name="Google Shape;10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latin typeface="Times New Roman"/>
                <a:ea typeface="Times New Roman"/>
                <a:cs typeface="Times New Roman"/>
                <a:sym typeface="Times New Roman"/>
              </a:rPr>
              <a:t>The </a:t>
            </a:r>
            <a:r>
              <a:rPr b="1" lang="en-US">
                <a:latin typeface="Times New Roman"/>
                <a:ea typeface="Times New Roman"/>
                <a:cs typeface="Times New Roman"/>
                <a:sym typeface="Times New Roman"/>
              </a:rPr>
              <a:t>HFIAS</a:t>
            </a:r>
            <a:r>
              <a:rPr lang="en-US">
                <a:latin typeface="Times New Roman"/>
                <a:ea typeface="Times New Roman"/>
                <a:cs typeface="Times New Roman"/>
                <a:sym typeface="Times New Roman"/>
              </a:rPr>
              <a:t> (Household Food Insecurity Access Scale) and </a:t>
            </a:r>
            <a:r>
              <a:rPr b="1" lang="en-US">
                <a:latin typeface="Times New Roman"/>
                <a:ea typeface="Times New Roman"/>
                <a:cs typeface="Times New Roman"/>
                <a:sym typeface="Times New Roman"/>
              </a:rPr>
              <a:t>CARI</a:t>
            </a:r>
            <a:r>
              <a:rPr lang="en-US">
                <a:latin typeface="Times New Roman"/>
                <a:ea typeface="Times New Roman"/>
                <a:cs typeface="Times New Roman"/>
                <a:sym typeface="Times New Roman"/>
              </a:rPr>
              <a:t> (Consolidated Approach for Reporting Indicators of Food Security) are standardized survey tools used to measure and classify household food insecurity. HFIAS focuses on psychological and behavioral access, while CARI combines multiple metrics into a unified classification scale.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Font typeface="Arial"/>
              <a:buNone/>
            </a:pPr>
            <a:r>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Font typeface="Arial"/>
              <a:buNone/>
            </a:pPr>
            <a:r>
              <a:rPr b="1" lang="en-US">
                <a:latin typeface="Times New Roman"/>
                <a:ea typeface="Times New Roman"/>
                <a:cs typeface="Times New Roman"/>
                <a:sym typeface="Times New Roman"/>
              </a:rPr>
              <a:t>HFIAS (Household Food Insecurity Access Scale)</a:t>
            </a:r>
            <a:r>
              <a:rPr lang="en-US">
                <a:latin typeface="Times New Roman"/>
                <a:ea typeface="Times New Roman"/>
                <a:cs typeface="Times New Roman"/>
                <a:sym typeface="Times New Roman"/>
              </a:rPr>
              <a:t>: A 9-question tool measuring a household's anxiety, uncertainty, and behavioral changes regarding food access over a 30-day recall period, scoring severity from 0 to 27</a:t>
            </a:r>
            <a:endParaRPr>
              <a:latin typeface="Times New Roman"/>
              <a:ea typeface="Times New Roman"/>
              <a:cs typeface="Times New Roman"/>
              <a:sym typeface="Times New Roman"/>
            </a:endParaRPr>
          </a:p>
          <a:p>
            <a:pPr indent="0" lvl="0" marL="0" rtl="0" algn="l">
              <a:spcBef>
                <a:spcPts val="0"/>
              </a:spcBef>
              <a:spcAft>
                <a:spcPts val="0"/>
              </a:spcAft>
              <a:buNone/>
            </a:pPr>
            <a:r>
              <a:rPr b="1" lang="en-US">
                <a:latin typeface="Times New Roman"/>
                <a:ea typeface="Times New Roman"/>
                <a:cs typeface="Times New Roman"/>
                <a:sym typeface="Times New Roman"/>
              </a:rPr>
              <a:t>CARI (Consolidated Approach for Reporting Indicators of Food Security)</a:t>
            </a:r>
            <a:r>
              <a:rPr lang="en-US">
                <a:latin typeface="Times New Roman"/>
                <a:ea typeface="Times New Roman"/>
                <a:cs typeface="Times New Roman"/>
                <a:sym typeface="Times New Roman"/>
              </a:rPr>
              <a:t>: Developed by the World Food Programme, this composite method classifies households into four distinct security categories (food secure, marginally, moderately, or severely insecure) using metrics like food consumption and coping strategies</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SzPts val="1100"/>
              <a:buNone/>
            </a:pPr>
            <a:r>
              <a:rPr lang="en-US">
                <a:latin typeface="Times New Roman"/>
                <a:ea typeface="Times New Roman"/>
                <a:cs typeface="Times New Roman"/>
                <a:sym typeface="Times New Roman"/>
              </a:rPr>
              <a:t>The </a:t>
            </a:r>
            <a:r>
              <a:rPr b="1" lang="en-US">
                <a:latin typeface="Times New Roman"/>
                <a:ea typeface="Times New Roman"/>
                <a:cs typeface="Times New Roman"/>
                <a:sym typeface="Times New Roman"/>
              </a:rPr>
              <a:t>Household Hunger Scale (HHS)</a:t>
            </a:r>
            <a:r>
              <a:rPr lang="en-US">
                <a:latin typeface="Times New Roman"/>
                <a:ea typeface="Times New Roman"/>
                <a:cs typeface="Times New Roman"/>
                <a:sym typeface="Times New Roman"/>
              </a:rPr>
              <a:t> is a simple metric used to measure severe food deprivation in a household over the past 30 days. Developed by the</a:t>
            </a:r>
            <a:r>
              <a:rPr lang="en-US">
                <a:uFill>
                  <a:noFill/>
                </a:uFill>
                <a:latin typeface="Times New Roman"/>
                <a:ea typeface="Times New Roman"/>
                <a:cs typeface="Times New Roman"/>
                <a:sym typeface="Times New Roman"/>
                <a:hlinkClick r:id="rId2"/>
              </a:rPr>
              <a:t> </a:t>
            </a:r>
            <a:r>
              <a:rPr lang="en-US" u="sng">
                <a:solidFill>
                  <a:schemeClr val="hlink"/>
                </a:solidFill>
                <a:latin typeface="Times New Roman"/>
                <a:ea typeface="Times New Roman"/>
                <a:cs typeface="Times New Roman"/>
                <a:sym typeface="Times New Roman"/>
                <a:hlinkClick r:id="rId3"/>
              </a:rPr>
              <a:t>FANTA Project</a:t>
            </a:r>
            <a:r>
              <a:rPr lang="en-US">
                <a:latin typeface="Times New Roman"/>
                <a:ea typeface="Times New Roman"/>
                <a:cs typeface="Times New Roman"/>
                <a:sym typeface="Times New Roman"/>
              </a:rPr>
              <a:t>, it uses three specific questions about going without food, sleeping hungry, or going a full day and night without eating.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a:latin typeface="Times New Roman"/>
                <a:ea typeface="Times New Roman"/>
                <a:cs typeface="Times New Roman"/>
                <a:sym typeface="Times New Roman"/>
              </a:rPr>
              <a:t>FANTA: Food and Nutrition Technical Assistance</a:t>
            </a:r>
            <a:endParaRPr>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lang="en-US">
                <a:latin typeface="Times New Roman"/>
                <a:ea typeface="Times New Roman"/>
                <a:cs typeface="Times New Roman"/>
                <a:sym typeface="Times New Roman"/>
              </a:rPr>
              <a:t>Core Questions and Recall</a:t>
            </a:r>
            <a:endParaRPr>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1100"/>
              <a:buFont typeface="Arial"/>
              <a:buNone/>
            </a:pPr>
            <a:r>
              <a:rPr lang="en-US">
                <a:latin typeface="Times New Roman"/>
                <a:ea typeface="Times New Roman"/>
                <a:cs typeface="Times New Roman"/>
                <a:sym typeface="Times New Roman"/>
              </a:rPr>
              <a:t>The HHS asks about three severe conditions experienced due to a lack of resources over the preceding </a:t>
            </a:r>
            <a:r>
              <a:rPr b="1" lang="en-US">
                <a:latin typeface="Times New Roman"/>
                <a:ea typeface="Times New Roman"/>
                <a:cs typeface="Times New Roman"/>
                <a:sym typeface="Times New Roman"/>
              </a:rPr>
              <a:t>30 days</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chemeClr val="dk1"/>
              </a:buClr>
              <a:buSzPts val="1200"/>
              <a:buChar char="●"/>
            </a:pPr>
            <a:r>
              <a:rPr b="1" lang="en-US">
                <a:latin typeface="Times New Roman"/>
                <a:ea typeface="Times New Roman"/>
                <a:cs typeface="Times New Roman"/>
                <a:sym typeface="Times New Roman"/>
              </a:rPr>
              <a:t>No food</a:t>
            </a:r>
            <a:r>
              <a:rPr lang="en-US">
                <a:latin typeface="Times New Roman"/>
                <a:ea typeface="Times New Roman"/>
                <a:cs typeface="Times New Roman"/>
                <a:sym typeface="Times New Roman"/>
              </a:rPr>
              <a:t> in the house of any kind.</a:t>
            </a:r>
            <a:endParaRPr>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Char char="●"/>
            </a:pPr>
            <a:r>
              <a:rPr b="1" lang="en-US">
                <a:latin typeface="Times New Roman"/>
                <a:ea typeface="Times New Roman"/>
                <a:cs typeface="Times New Roman"/>
                <a:sym typeface="Times New Roman"/>
              </a:rPr>
              <a:t>Any household member</a:t>
            </a:r>
            <a:r>
              <a:rPr lang="en-US">
                <a:latin typeface="Times New Roman"/>
                <a:ea typeface="Times New Roman"/>
                <a:cs typeface="Times New Roman"/>
                <a:sym typeface="Times New Roman"/>
              </a:rPr>
              <a:t> went to sleep hungry.</a:t>
            </a:r>
            <a:endParaRPr>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Char char="●"/>
            </a:pPr>
            <a:r>
              <a:rPr b="1" lang="en-US">
                <a:latin typeface="Times New Roman"/>
                <a:ea typeface="Times New Roman"/>
                <a:cs typeface="Times New Roman"/>
                <a:sym typeface="Times New Roman"/>
              </a:rPr>
              <a:t>Any household member</a:t>
            </a:r>
            <a:r>
              <a:rPr lang="en-US">
                <a:latin typeface="Times New Roman"/>
                <a:ea typeface="Times New Roman"/>
                <a:cs typeface="Times New Roman"/>
                <a:sym typeface="Times New Roman"/>
              </a:rPr>
              <a:t> went a whole day and night without eating.</a:t>
            </a:r>
            <a:endParaRPr>
              <a:latin typeface="Times New Roman"/>
              <a:ea typeface="Times New Roman"/>
              <a:cs typeface="Times New Roman"/>
              <a:sym typeface="Times New Roman"/>
            </a:endParaRPr>
          </a:p>
          <a:p>
            <a:pPr indent="0" lvl="0" marL="0" rtl="0" algn="l">
              <a:spcBef>
                <a:spcPts val="2100"/>
              </a:spcBef>
              <a:spcAft>
                <a:spcPts val="0"/>
              </a:spcAft>
              <a:buNone/>
            </a:pPr>
            <a:r>
              <a:t/>
            </a:r>
            <a:endParaRPr>
              <a:latin typeface="Times New Roman"/>
              <a:ea typeface="Times New Roman"/>
              <a:cs typeface="Times New Roman"/>
              <a:sym typeface="Times New Roman"/>
            </a:endParaRPr>
          </a:p>
        </p:txBody>
      </p:sp>
      <p:sp>
        <p:nvSpPr>
          <p:cNvPr id="146" name="Google Shape;14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Current government plans include a National El-Nino </a:t>
            </a:r>
            <a:r>
              <a:rPr lang="en-US">
                <a:latin typeface="Times New Roman"/>
                <a:ea typeface="Times New Roman"/>
                <a:cs typeface="Times New Roman"/>
                <a:sym typeface="Times New Roman"/>
              </a:rPr>
              <a:t>Contingency Plan that includes farmers advisory, flood mitigation works, reinforcement of transport infrastructure, emergency resource pre-positioning, and coordinated disaster response.</a:t>
            </a: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373" name="Google Shape;37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6efb0ddcc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f6efb0ddcc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g3f6efb0ddcc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B4D"/>
        </a:solidFill>
      </p:bgPr>
    </p:bg>
    <p:spTree>
      <p:nvGrpSpPr>
        <p:cNvPr id="15" name="Shape 15"/>
        <p:cNvGrpSpPr/>
        <p:nvPr/>
      </p:nvGrpSpPr>
      <p:grpSpPr>
        <a:xfrm>
          <a:off x="0" y="0"/>
          <a:ext cx="0" cy="0"/>
          <a:chOff x="0" y="0"/>
          <a:chExt cx="0" cy="0"/>
        </a:xfrm>
      </p:grpSpPr>
      <p:sp>
        <p:nvSpPr>
          <p:cNvPr id="16" name="Google Shape;16;p1"/>
          <p:cNvSpPr/>
          <p:nvPr/>
        </p:nvSpPr>
        <p:spPr>
          <a:xfrm>
            <a:off x="0" y="0"/>
            <a:ext cx="12188952" cy="6858000"/>
          </a:xfrm>
          <a:prstGeom prst="rect">
            <a:avLst/>
          </a:prstGeom>
          <a:solidFill>
            <a:srgbClr val="141B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48640" y="5989320"/>
            <a:ext cx="411480" cy="109728"/>
          </a:xfrm>
          <a:prstGeom prst="rect">
            <a:avLst/>
          </a:prstGeom>
          <a:solidFill>
            <a:srgbClr val="3D89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1051560" y="5989320"/>
            <a:ext cx="411480" cy="109728"/>
          </a:xfrm>
          <a:prstGeom prst="rect">
            <a:avLst/>
          </a:prstGeom>
          <a:solidFill>
            <a:srgbClr val="E8B9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1554480" y="5989320"/>
            <a:ext cx="411480" cy="109728"/>
          </a:xfrm>
          <a:prstGeom prst="rect">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2057400" y="5989320"/>
            <a:ext cx="411480" cy="109728"/>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2560320" y="5989320"/>
            <a:ext cx="411480" cy="109728"/>
          </a:xfrm>
          <a:prstGeom prst="rect">
            <a:avLst/>
          </a:prstGeom>
          <a:solidFill>
            <a:srgbClr val="6E1F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548640" y="6144768"/>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0B0"/>
              </a:buClr>
              <a:buSzPts val="900"/>
              <a:buFont typeface="Calibri"/>
              <a:buNone/>
            </a:pPr>
            <a:r>
              <a:rPr b="0" i="0" lang="en-US" sz="900" u="none" cap="none" strike="noStrike">
                <a:solidFill>
                  <a:srgbClr val="8A90B0"/>
                </a:solidFill>
                <a:latin typeface="Calibri"/>
                <a:ea typeface="Calibri"/>
                <a:cs typeface="Calibri"/>
                <a:sym typeface="Calibri"/>
              </a:rPr>
              <a:t>IPC-STYLE 5-PHASE SEVERITY SCALE</a:t>
            </a:r>
            <a:endParaRPr b="0" i="0" sz="900" u="none" cap="none" strike="noStrike">
              <a:solidFill>
                <a:schemeClr val="dk1"/>
              </a:solidFill>
              <a:latin typeface="Calibri"/>
              <a:ea typeface="Calibri"/>
              <a:cs typeface="Calibri"/>
              <a:sym typeface="Calibri"/>
            </a:endParaRPr>
          </a:p>
        </p:txBody>
      </p:sp>
      <p:sp>
        <p:nvSpPr>
          <p:cNvPr id="23" name="Google Shape;23;p1"/>
          <p:cNvSpPr/>
          <p:nvPr/>
        </p:nvSpPr>
        <p:spPr>
          <a:xfrm>
            <a:off x="548640" y="1828800"/>
            <a:ext cx="10515600" cy="1737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Times New Roman"/>
                <a:ea typeface="Times New Roman"/>
                <a:cs typeface="Times New Roman"/>
                <a:sym typeface="Times New Roman"/>
              </a:rPr>
              <a:t>Predicting Household Food Insecurity</a:t>
            </a:r>
            <a:endParaRPr i="0" sz="40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Times New Roman"/>
                <a:ea typeface="Times New Roman"/>
                <a:cs typeface="Times New Roman"/>
                <a:sym typeface="Times New Roman"/>
              </a:rPr>
              <a:t>in Kenya</a:t>
            </a:r>
            <a:endParaRPr i="0" sz="4000" u="none" cap="none" strike="noStrike">
              <a:solidFill>
                <a:schemeClr val="dk1"/>
              </a:solidFill>
              <a:latin typeface="Times New Roman"/>
              <a:ea typeface="Times New Roman"/>
              <a:cs typeface="Times New Roman"/>
              <a:sym typeface="Times New Roman"/>
            </a:endParaRPr>
          </a:p>
        </p:txBody>
      </p:sp>
      <p:sp>
        <p:nvSpPr>
          <p:cNvPr id="24" name="Google Shape;24;p1"/>
          <p:cNvSpPr/>
          <p:nvPr/>
        </p:nvSpPr>
        <p:spPr>
          <a:xfrm>
            <a:off x="548651" y="3429000"/>
            <a:ext cx="110973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600"/>
              <a:buFont typeface="Calibri"/>
              <a:buNone/>
            </a:pPr>
            <a:r>
              <a:rPr lang="en-US" sz="2400" u="none" cap="none" strike="noStrike">
                <a:solidFill>
                  <a:srgbClr val="CADCFC"/>
                </a:solidFill>
                <a:latin typeface="Times New Roman"/>
                <a:ea typeface="Times New Roman"/>
                <a:cs typeface="Times New Roman"/>
                <a:sym typeface="Times New Roman"/>
              </a:rPr>
              <a:t>An early-warning screening tool to help humanitarian responders reach the most</a:t>
            </a:r>
            <a:endParaRPr sz="2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CADCFC"/>
              </a:buClr>
              <a:buSzPts val="1600"/>
              <a:buFont typeface="Calibri"/>
              <a:buNone/>
            </a:pPr>
            <a:r>
              <a:rPr lang="en-US" sz="2400" u="none" cap="none" strike="noStrike">
                <a:solidFill>
                  <a:srgbClr val="CADCFC"/>
                </a:solidFill>
                <a:latin typeface="Times New Roman"/>
                <a:ea typeface="Times New Roman"/>
                <a:cs typeface="Times New Roman"/>
                <a:sym typeface="Times New Roman"/>
              </a:rPr>
              <a:t>food-insecure households ahead of the forecast 2026 El Niño rains</a:t>
            </a:r>
            <a:endParaRPr sz="2400" u="none" cap="none" strike="noStrike">
              <a:solidFill>
                <a:schemeClr val="dk1"/>
              </a:solidFill>
              <a:latin typeface="Times New Roman"/>
              <a:ea typeface="Times New Roman"/>
              <a:cs typeface="Times New Roman"/>
              <a:sym typeface="Times New Roman"/>
            </a:endParaRPr>
          </a:p>
        </p:txBody>
      </p:sp>
      <p:sp>
        <p:nvSpPr>
          <p:cNvPr id="25" name="Google Shape;25;p1"/>
          <p:cNvSpPr/>
          <p:nvPr/>
        </p:nvSpPr>
        <p:spPr>
          <a:xfrm>
            <a:off x="548640" y="539496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EB4D6"/>
              </a:buClr>
              <a:buSzPts val="1300"/>
              <a:buFont typeface="Calibri"/>
              <a:buNone/>
            </a:pPr>
            <a:r>
              <a:rPr b="1" i="0" lang="en-US" sz="1300" u="none" cap="none" strike="noStrike">
                <a:solidFill>
                  <a:srgbClr val="AEB4D6"/>
                </a:solidFill>
                <a:latin typeface="Calibri"/>
                <a:ea typeface="Calibri"/>
                <a:cs typeface="Calibri"/>
                <a:sym typeface="Calibri"/>
              </a:rPr>
              <a:t>Ngao Labs Cohort 3 · Group 10 · FDSAI Capstone Project</a:t>
            </a:r>
            <a:endParaRPr b="0" i="0" sz="1300" u="none" cap="none" strike="noStrike">
              <a:solidFill>
                <a:schemeClr val="dk1"/>
              </a:solidFill>
              <a:latin typeface="Calibri"/>
              <a:ea typeface="Calibri"/>
              <a:cs typeface="Calibri"/>
              <a:sym typeface="Calibri"/>
            </a:endParaRPr>
          </a:p>
        </p:txBody>
      </p:sp>
      <p:sp>
        <p:nvSpPr>
          <p:cNvPr id="26" name="Google Shape;26;p1"/>
          <p:cNvSpPr/>
          <p:nvPr/>
        </p:nvSpPr>
        <p:spPr>
          <a:xfrm>
            <a:off x="548640" y="5715000"/>
            <a:ext cx="10058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0B0"/>
              </a:buClr>
              <a:buSzPts val="1100"/>
              <a:buFont typeface="Calibri"/>
              <a:buNone/>
            </a:pPr>
            <a:r>
              <a:rPr b="0" i="0" lang="en-US" sz="1100" u="none" cap="none" strike="noStrike">
                <a:solidFill>
                  <a:srgbClr val="8A90B0"/>
                </a:solidFill>
                <a:latin typeface="Calibri"/>
                <a:ea typeface="Calibri"/>
                <a:cs typeface="Calibri"/>
                <a:sym typeface="Calibri"/>
              </a:rPr>
              <a:t>Priscilla Kungu  |  github.com/PriscillaKungu/Ngao-Labs-Cohort-3-Group-10-Food-Security-Screening-Model</a:t>
            </a:r>
            <a:endParaRPr b="0" i="0" sz="1100" u="none" cap="none" strike="noStrike">
              <a:solidFill>
                <a:schemeClr val="dk1"/>
              </a:solidFill>
              <a:latin typeface="Calibri"/>
              <a:ea typeface="Calibri"/>
              <a:cs typeface="Calibri"/>
              <a:sym typeface="Calibri"/>
            </a:endParaRPr>
          </a:p>
        </p:txBody>
      </p:sp>
      <p:sp>
        <p:nvSpPr>
          <p:cNvPr id="27" name="Google Shape;27;p1"/>
          <p:cNvSpPr/>
          <p:nvPr/>
        </p:nvSpPr>
        <p:spPr>
          <a:xfrm>
            <a:off x="3167500" y="4509775"/>
            <a:ext cx="5277900" cy="627300"/>
          </a:xfrm>
          <a:prstGeom prst="rect">
            <a:avLst/>
          </a:prstGeom>
          <a:solidFill>
            <a:srgbClr val="141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a:solidFill>
                  <a:schemeClr val="lt1"/>
                </a:solidFill>
                <a:latin typeface="Times New Roman"/>
                <a:ea typeface="Times New Roman"/>
                <a:cs typeface="Times New Roman"/>
                <a:sym typeface="Times New Roman"/>
              </a:rPr>
              <a:t>Presented by</a:t>
            </a:r>
            <a:endParaRPr sz="20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lang="en-US" sz="2000">
                <a:solidFill>
                  <a:schemeClr val="lt1"/>
                </a:solidFill>
                <a:latin typeface="Times New Roman"/>
                <a:ea typeface="Times New Roman"/>
                <a:cs typeface="Times New Roman"/>
                <a:sym typeface="Times New Roman"/>
              </a:rPr>
              <a:t>PRISCILLA W KUNG’U</a:t>
            </a: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sp>
        <p:nvSpPr>
          <p:cNvPr id="33" name="Google Shape;33;p2"/>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Why This Matters Now</a:t>
            </a:r>
            <a:endParaRPr sz="3000">
              <a:solidFill>
                <a:schemeClr val="dk1"/>
              </a:solidFill>
              <a:latin typeface="Times New Roman"/>
              <a:ea typeface="Times New Roman"/>
              <a:cs typeface="Times New Roman"/>
              <a:sym typeface="Times New Roman"/>
            </a:endParaRPr>
          </a:p>
        </p:txBody>
      </p:sp>
      <p:sp>
        <p:nvSpPr>
          <p:cNvPr id="34" name="Google Shape;34;p2"/>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A Historically Strong El Niño Is Already Forming</a:t>
            </a:r>
            <a:endParaRPr i="0" sz="3000" u="none" cap="none" strike="noStrike">
              <a:solidFill>
                <a:schemeClr val="dk1"/>
              </a:solidFill>
              <a:latin typeface="Times New Roman"/>
              <a:ea typeface="Times New Roman"/>
              <a:cs typeface="Times New Roman"/>
              <a:sym typeface="Times New Roman"/>
            </a:endParaRPr>
          </a:p>
        </p:txBody>
      </p:sp>
      <p:sp>
        <p:nvSpPr>
          <p:cNvPr id="35" name="Google Shape;35;p2"/>
          <p:cNvSpPr/>
          <p:nvPr/>
        </p:nvSpPr>
        <p:spPr>
          <a:xfrm>
            <a:off x="548650" y="1188727"/>
            <a:ext cx="10789800" cy="65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1400"/>
              <a:buFont typeface="Calibri"/>
              <a:buNone/>
            </a:pPr>
            <a:r>
              <a:rPr i="0" lang="en-US" sz="2400" u="none" cap="none" strike="noStrike">
                <a:solidFill>
                  <a:schemeClr val="dk1"/>
                </a:solidFill>
                <a:latin typeface="Times New Roman"/>
                <a:ea typeface="Times New Roman"/>
                <a:cs typeface="Times New Roman"/>
                <a:sym typeface="Times New Roman"/>
              </a:rPr>
              <a:t>Forecasters place the current event among the strongest on record with impacts expected to reverberate through 2027.</a:t>
            </a:r>
            <a:endParaRPr i="0" sz="2400" u="none" cap="none" strike="noStrike">
              <a:solidFill>
                <a:schemeClr val="dk1"/>
              </a:solidFill>
              <a:latin typeface="Times New Roman"/>
              <a:ea typeface="Times New Roman"/>
              <a:cs typeface="Times New Roman"/>
              <a:sym typeface="Times New Roman"/>
            </a:endParaRPr>
          </a:p>
        </p:txBody>
      </p:sp>
      <p:sp>
        <p:nvSpPr>
          <p:cNvPr id="36" name="Google Shape;36;p2"/>
          <p:cNvSpPr/>
          <p:nvPr/>
        </p:nvSpPr>
        <p:spPr>
          <a:xfrm>
            <a:off x="548640" y="1920240"/>
            <a:ext cx="2606040" cy="2011680"/>
          </a:xfrm>
          <a:prstGeom prst="roundRect">
            <a:avLst>
              <a:gd fmla="val 3636"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85800" y="2029968"/>
            <a:ext cx="2331720" cy="11064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3000"/>
              <a:buFont typeface="Cambria"/>
              <a:buNone/>
            </a:pPr>
            <a:r>
              <a:rPr b="1" i="0" lang="en-US" sz="3000" u="none" cap="none" strike="noStrike">
                <a:solidFill>
                  <a:srgbClr val="C0392B"/>
                </a:solidFill>
                <a:latin typeface="Cambria"/>
                <a:ea typeface="Cambria"/>
                <a:cs typeface="Cambria"/>
                <a:sym typeface="Cambria"/>
              </a:rPr>
              <a:t>274M</a:t>
            </a:r>
            <a:endParaRPr b="0" i="0" sz="3000" u="none" cap="none" strike="noStrike">
              <a:solidFill>
                <a:schemeClr val="dk1"/>
              </a:solidFill>
              <a:latin typeface="Calibri"/>
              <a:ea typeface="Calibri"/>
              <a:cs typeface="Calibri"/>
              <a:sym typeface="Calibri"/>
            </a:endParaRPr>
          </a:p>
        </p:txBody>
      </p:sp>
      <p:sp>
        <p:nvSpPr>
          <p:cNvPr id="38" name="Google Shape;38;p2"/>
          <p:cNvSpPr/>
          <p:nvPr/>
        </p:nvSpPr>
        <p:spPr>
          <a:xfrm>
            <a:off x="685800" y="2870200"/>
            <a:ext cx="2331600" cy="1363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5F73"/>
              </a:buClr>
              <a:buSzPts val="1100"/>
              <a:buFont typeface="Calibri"/>
              <a:buNone/>
            </a:pPr>
            <a:r>
              <a:rPr i="0" lang="en-US" sz="1600" u="none" cap="none" strike="noStrike">
                <a:solidFill>
                  <a:schemeClr val="dk1"/>
                </a:solidFill>
                <a:latin typeface="Times New Roman"/>
                <a:ea typeface="Times New Roman"/>
                <a:cs typeface="Times New Roman"/>
                <a:sym typeface="Times New Roman"/>
              </a:rPr>
              <a:t>people forecast acutely food insecure across 45 countries by end of 2027 49M more than today(WFP)</a:t>
            </a:r>
            <a:endParaRPr i="0" sz="1600" u="none" cap="none" strike="noStrike">
              <a:solidFill>
                <a:schemeClr val="dk1"/>
              </a:solidFill>
              <a:latin typeface="Times New Roman"/>
              <a:ea typeface="Times New Roman"/>
              <a:cs typeface="Times New Roman"/>
              <a:sym typeface="Times New Roman"/>
            </a:endParaRPr>
          </a:p>
        </p:txBody>
      </p:sp>
      <p:sp>
        <p:nvSpPr>
          <p:cNvPr id="39" name="Google Shape;39;p2"/>
          <p:cNvSpPr/>
          <p:nvPr/>
        </p:nvSpPr>
        <p:spPr>
          <a:xfrm>
            <a:off x="3383280" y="1920240"/>
            <a:ext cx="2606040" cy="2011680"/>
          </a:xfrm>
          <a:prstGeom prst="roundRect">
            <a:avLst>
              <a:gd fmla="val 3636"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3520440" y="2029968"/>
            <a:ext cx="2331720" cy="11064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62C"/>
              </a:buClr>
              <a:buSzPts val="3000"/>
              <a:buFont typeface="Cambria"/>
              <a:buNone/>
            </a:pPr>
            <a:r>
              <a:rPr b="1" i="0" lang="en-US" sz="3000" u="none" cap="none" strike="noStrike">
                <a:solidFill>
                  <a:srgbClr val="E0762C"/>
                </a:solidFill>
                <a:latin typeface="Cambria"/>
                <a:ea typeface="Cambria"/>
                <a:cs typeface="Cambria"/>
                <a:sym typeface="Cambria"/>
              </a:rPr>
              <a:t>81%</a:t>
            </a:r>
            <a:endParaRPr b="0" i="0" sz="3000" u="none" cap="none" strike="noStrike">
              <a:solidFill>
                <a:schemeClr val="dk1"/>
              </a:solidFill>
              <a:latin typeface="Calibri"/>
              <a:ea typeface="Calibri"/>
              <a:cs typeface="Calibri"/>
              <a:sym typeface="Calibri"/>
            </a:endParaRPr>
          </a:p>
        </p:txBody>
      </p:sp>
      <p:sp>
        <p:nvSpPr>
          <p:cNvPr id="41" name="Google Shape;41;p2"/>
          <p:cNvSpPr/>
          <p:nvPr/>
        </p:nvSpPr>
        <p:spPr>
          <a:xfrm>
            <a:off x="3520450" y="2862050"/>
            <a:ext cx="233160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5F73"/>
              </a:buClr>
              <a:buSzPts val="1100"/>
              <a:buFont typeface="Calibri"/>
              <a:buNone/>
            </a:pPr>
            <a:r>
              <a:rPr i="0" lang="en-US" sz="1600" u="none" cap="none" strike="noStrike">
                <a:solidFill>
                  <a:schemeClr val="dk1"/>
                </a:solidFill>
                <a:latin typeface="Times New Roman"/>
                <a:ea typeface="Times New Roman"/>
                <a:cs typeface="Times New Roman"/>
                <a:sym typeface="Times New Roman"/>
              </a:rPr>
              <a:t>probability Kenya</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s 2026 El Niño develops into a very strong event (KMD / WMO)</a:t>
            </a:r>
            <a:endParaRPr i="0" sz="1600" u="none" cap="none" strike="noStrike">
              <a:solidFill>
                <a:schemeClr val="dk1"/>
              </a:solidFill>
              <a:latin typeface="Times New Roman"/>
              <a:ea typeface="Times New Roman"/>
              <a:cs typeface="Times New Roman"/>
              <a:sym typeface="Times New Roman"/>
            </a:endParaRPr>
          </a:p>
        </p:txBody>
      </p:sp>
      <p:sp>
        <p:nvSpPr>
          <p:cNvPr id="42" name="Google Shape;42;p2"/>
          <p:cNvSpPr/>
          <p:nvPr/>
        </p:nvSpPr>
        <p:spPr>
          <a:xfrm>
            <a:off x="6217920" y="1920240"/>
            <a:ext cx="2606040" cy="2011680"/>
          </a:xfrm>
          <a:prstGeom prst="roundRect">
            <a:avLst>
              <a:gd fmla="val 3636"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355080" y="2029968"/>
            <a:ext cx="2331720" cy="11064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3000"/>
              <a:buFont typeface="Cambria"/>
              <a:buNone/>
            </a:pPr>
            <a:r>
              <a:rPr b="1" i="0" lang="en-US" sz="3000" u="none" cap="none" strike="noStrike">
                <a:solidFill>
                  <a:srgbClr val="C0392B"/>
                </a:solidFill>
                <a:latin typeface="Cambria"/>
                <a:ea typeface="Cambria"/>
                <a:cs typeface="Cambria"/>
                <a:sym typeface="Cambria"/>
              </a:rPr>
              <a:t>18M+</a:t>
            </a:r>
            <a:endParaRPr b="0" i="0" sz="3000" u="none" cap="none" strike="noStrike">
              <a:solidFill>
                <a:schemeClr val="dk1"/>
              </a:solidFill>
              <a:latin typeface="Calibri"/>
              <a:ea typeface="Calibri"/>
              <a:cs typeface="Calibri"/>
              <a:sym typeface="Calibri"/>
            </a:endParaRPr>
          </a:p>
        </p:txBody>
      </p:sp>
      <p:sp>
        <p:nvSpPr>
          <p:cNvPr id="44" name="Google Shape;44;p2"/>
          <p:cNvSpPr/>
          <p:nvPr/>
        </p:nvSpPr>
        <p:spPr>
          <a:xfrm>
            <a:off x="6355075" y="2870202"/>
            <a:ext cx="233160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5F73"/>
              </a:buClr>
              <a:buSzPts val="1100"/>
              <a:buFont typeface="Calibri"/>
              <a:buNone/>
            </a:pPr>
            <a:r>
              <a:rPr i="0" lang="en-US" sz="1600" u="none" cap="none" strike="noStrike">
                <a:solidFill>
                  <a:schemeClr val="dk1"/>
                </a:solidFill>
                <a:latin typeface="Times New Roman"/>
                <a:ea typeface="Times New Roman"/>
                <a:cs typeface="Times New Roman"/>
                <a:sym typeface="Times New Roman"/>
              </a:rPr>
              <a:t>more people at risk of worsening food insecurity across East </a:t>
            </a:r>
            <a:r>
              <a:rPr lang="en-US" sz="1600">
                <a:solidFill>
                  <a:schemeClr val="dk1"/>
                </a:solidFill>
                <a:latin typeface="Times New Roman"/>
                <a:ea typeface="Times New Roman"/>
                <a:cs typeface="Times New Roman"/>
                <a:sym typeface="Times New Roman"/>
              </a:rPr>
              <a:t>and</a:t>
            </a:r>
            <a:r>
              <a:rPr i="0" lang="en-US" sz="1600" u="none" cap="none" strike="noStrike">
                <a:solidFill>
                  <a:schemeClr val="dk1"/>
                </a:solidFill>
                <a:latin typeface="Times New Roman"/>
                <a:ea typeface="Times New Roman"/>
                <a:cs typeface="Times New Roman"/>
                <a:sym typeface="Times New Roman"/>
              </a:rPr>
              <a:t> Southern Africa</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 up over one-quarter</a:t>
            </a:r>
            <a:endParaRPr i="0" sz="1600" u="none" cap="none" strike="noStrike">
              <a:solidFill>
                <a:schemeClr val="dk1"/>
              </a:solidFill>
              <a:latin typeface="Times New Roman"/>
              <a:ea typeface="Times New Roman"/>
              <a:cs typeface="Times New Roman"/>
              <a:sym typeface="Times New Roman"/>
            </a:endParaRPr>
          </a:p>
        </p:txBody>
      </p:sp>
      <p:sp>
        <p:nvSpPr>
          <p:cNvPr id="45" name="Google Shape;45;p2"/>
          <p:cNvSpPr/>
          <p:nvPr/>
        </p:nvSpPr>
        <p:spPr>
          <a:xfrm>
            <a:off x="9052560" y="1920240"/>
            <a:ext cx="2606040" cy="2011680"/>
          </a:xfrm>
          <a:prstGeom prst="roundRect">
            <a:avLst>
              <a:gd fmla="val 3636"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9189720" y="2029968"/>
            <a:ext cx="2331720" cy="11064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8944"/>
              </a:buClr>
              <a:buSzPts val="3000"/>
              <a:buFont typeface="Cambria"/>
              <a:buNone/>
            </a:pPr>
            <a:r>
              <a:rPr b="1" i="0" lang="en-US" sz="3000" u="none" cap="none" strike="noStrike">
                <a:solidFill>
                  <a:srgbClr val="3D8944"/>
                </a:solidFill>
                <a:latin typeface="Cambria"/>
                <a:ea typeface="Cambria"/>
                <a:cs typeface="Cambria"/>
                <a:sym typeface="Cambria"/>
              </a:rPr>
              <a:t>$1 → $7</a:t>
            </a:r>
            <a:endParaRPr b="0" i="0" sz="3000" u="none" cap="none" strike="noStrike">
              <a:solidFill>
                <a:schemeClr val="dk1"/>
              </a:solidFill>
              <a:latin typeface="Calibri"/>
              <a:ea typeface="Calibri"/>
              <a:cs typeface="Calibri"/>
              <a:sym typeface="Calibri"/>
            </a:endParaRPr>
          </a:p>
        </p:txBody>
      </p:sp>
      <p:sp>
        <p:nvSpPr>
          <p:cNvPr id="47" name="Google Shape;47;p2"/>
          <p:cNvSpPr/>
          <p:nvPr/>
        </p:nvSpPr>
        <p:spPr>
          <a:xfrm>
            <a:off x="9189725" y="2870200"/>
            <a:ext cx="2331600" cy="1473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5F73"/>
              </a:buClr>
              <a:buSzPts val="1100"/>
              <a:buFont typeface="Calibri"/>
              <a:buNone/>
            </a:pPr>
            <a:r>
              <a:rPr i="0" lang="en-US" sz="1600" u="none" cap="none" strike="noStrike">
                <a:solidFill>
                  <a:schemeClr val="dk1"/>
                </a:solidFill>
                <a:latin typeface="Times New Roman"/>
                <a:ea typeface="Times New Roman"/>
                <a:cs typeface="Times New Roman"/>
                <a:sym typeface="Times New Roman"/>
              </a:rPr>
              <a:t>return on every dollar spent on anticipatory action instead of post-disaster response (FAO)</a:t>
            </a:r>
            <a:endParaRPr i="0" sz="1600" u="none" cap="none" strike="noStrike">
              <a:solidFill>
                <a:schemeClr val="dk1"/>
              </a:solidFill>
              <a:latin typeface="Times New Roman"/>
              <a:ea typeface="Times New Roman"/>
              <a:cs typeface="Times New Roman"/>
              <a:sym typeface="Times New Roman"/>
            </a:endParaRPr>
          </a:p>
        </p:txBody>
      </p:sp>
      <p:sp>
        <p:nvSpPr>
          <p:cNvPr id="48" name="Google Shape;48;p2"/>
          <p:cNvSpPr/>
          <p:nvPr/>
        </p:nvSpPr>
        <p:spPr>
          <a:xfrm>
            <a:off x="548640" y="4251960"/>
            <a:ext cx="11064240" cy="1691640"/>
          </a:xfrm>
          <a:prstGeom prst="roundRect">
            <a:avLst>
              <a:gd fmla="val 4324"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868680" y="4480560"/>
            <a:ext cx="1042416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761"/>
              </a:buClr>
              <a:buSzPts val="1500"/>
              <a:buFont typeface="Cambria"/>
              <a:buNone/>
            </a:pPr>
            <a:r>
              <a:rPr i="1" lang="en-US" sz="2000" u="none" cap="none" strike="noStrike">
                <a:solidFill>
                  <a:schemeClr val="dk1"/>
                </a:solidFill>
                <a:latin typeface="Times New Roman"/>
                <a:ea typeface="Times New Roman"/>
                <a:cs typeface="Times New Roman"/>
                <a:sym typeface="Times New Roman"/>
              </a:rPr>
              <a:t>“El Niño is a massive threat to the food security of millions who are already vulnerable. Severe floods and droughts can quickly push communities from coping to crisis.”</a:t>
            </a:r>
            <a:endParaRPr i="0" sz="2000" u="none" cap="none" strike="noStrike">
              <a:solidFill>
                <a:schemeClr val="dk1"/>
              </a:solidFill>
              <a:latin typeface="Times New Roman"/>
              <a:ea typeface="Times New Roman"/>
              <a:cs typeface="Times New Roman"/>
              <a:sym typeface="Times New Roman"/>
            </a:endParaRPr>
          </a:p>
          <a:p>
            <a:pPr indent="0" lvl="0" marL="0" marR="0" rtl="0" algn="l">
              <a:spcBef>
                <a:spcPts val="800"/>
              </a:spcBef>
              <a:spcAft>
                <a:spcPts val="0"/>
              </a:spcAft>
              <a:buClr>
                <a:srgbClr val="5A5F73"/>
              </a:buClr>
              <a:buSzPts val="1200"/>
              <a:buFont typeface="Cambria"/>
              <a:buNone/>
            </a:pPr>
            <a:r>
              <a:rPr i="0" lang="en-US" sz="2000" u="none" cap="none" strike="noStrike">
                <a:solidFill>
                  <a:schemeClr val="dk1"/>
                </a:solidFill>
                <a:latin typeface="Times New Roman"/>
                <a:ea typeface="Times New Roman"/>
                <a:cs typeface="Times New Roman"/>
                <a:sym typeface="Times New Roman"/>
              </a:rPr>
              <a:t>Carl Skau, WFP Acting Executive Director, August 2026</a:t>
            </a:r>
            <a:endParaRPr i="0" sz="2000" u="none" cap="none" strike="noStrike">
              <a:solidFill>
                <a:schemeClr val="dk1"/>
              </a:solidFill>
              <a:latin typeface="Times New Roman"/>
              <a:ea typeface="Times New Roman"/>
              <a:cs typeface="Times New Roman"/>
              <a:sym typeface="Times New Roman"/>
            </a:endParaRPr>
          </a:p>
        </p:txBody>
      </p:sp>
      <p:sp>
        <p:nvSpPr>
          <p:cNvPr id="50" name="Google Shape;50;p2"/>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b="0" i="0" lang="en-US" sz="900" u="none" cap="none" strike="noStrike">
                <a:solidFill>
                  <a:srgbClr val="9AA0B8"/>
                </a:solidFill>
                <a:latin typeface="Calibri"/>
                <a:ea typeface="Calibri"/>
                <a:cs typeface="Calibri"/>
                <a:sym typeface="Calibri"/>
              </a:rPr>
              <a:t>Ngao Labs Capstone · Group 10 — Food Security Screening</a:t>
            </a:r>
            <a:endParaRPr b="0" i="0" sz="900" u="none" cap="none" strike="noStrike">
              <a:solidFill>
                <a:schemeClr val="dk1"/>
              </a:solidFill>
              <a:latin typeface="Calibri"/>
              <a:ea typeface="Calibri"/>
              <a:cs typeface="Calibri"/>
              <a:sym typeface="Calibri"/>
            </a:endParaRPr>
          </a:p>
        </p:txBody>
      </p:sp>
      <p:sp>
        <p:nvSpPr>
          <p:cNvPr id="51" name="Google Shape;51;p2"/>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b="0" i="0" lang="en-US" sz="900" u="none" cap="none" strike="noStrike">
                <a:solidFill>
                  <a:srgbClr val="9AA0B8"/>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3"/>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National Risk Assessment</a:t>
            </a:r>
            <a:endParaRPr sz="3000">
              <a:solidFill>
                <a:schemeClr val="dk1"/>
              </a:solidFill>
              <a:latin typeface="Times New Roman"/>
              <a:ea typeface="Times New Roman"/>
              <a:cs typeface="Times New Roman"/>
              <a:sym typeface="Times New Roman"/>
            </a:endParaRPr>
          </a:p>
        </p:txBody>
      </p:sp>
      <p:sp>
        <p:nvSpPr>
          <p:cNvPr id="58" name="Google Shape;58;p3"/>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Kenya Has Already Mapped Its Highest-Risk Counties</a:t>
            </a:r>
            <a:endParaRPr i="0" sz="3000" u="none" cap="none" strike="noStrike">
              <a:solidFill>
                <a:schemeClr val="dk1"/>
              </a:solidFill>
              <a:latin typeface="Times New Roman"/>
              <a:ea typeface="Times New Roman"/>
              <a:cs typeface="Times New Roman"/>
              <a:sym typeface="Times New Roman"/>
            </a:endParaRPr>
          </a:p>
        </p:txBody>
      </p:sp>
      <p:sp>
        <p:nvSpPr>
          <p:cNvPr id="59" name="Google Shape;59;p3"/>
          <p:cNvSpPr/>
          <p:nvPr/>
        </p:nvSpPr>
        <p:spPr>
          <a:xfrm>
            <a:off x="548640" y="1188720"/>
            <a:ext cx="10972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1300"/>
              <a:buFont typeface="Calibri"/>
              <a:buNone/>
            </a:pPr>
            <a:r>
              <a:rPr i="0" lang="en-US" sz="1600" u="none" cap="none" strike="noStrike">
                <a:solidFill>
                  <a:schemeClr val="dk1"/>
                </a:solidFill>
                <a:latin typeface="Times New Roman"/>
                <a:ea typeface="Times New Roman"/>
                <a:cs typeface="Times New Roman"/>
                <a:sym typeface="Times New Roman"/>
              </a:rPr>
              <a:t>Kenya</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s National Disaster Operations Centre (NDOC) has identified county-level exposure across four regions, plus three major urban centres.</a:t>
            </a:r>
            <a:endParaRPr i="0" sz="1600" u="none" cap="none" strike="noStrike">
              <a:solidFill>
                <a:schemeClr val="dk1"/>
              </a:solidFill>
              <a:latin typeface="Times New Roman"/>
              <a:ea typeface="Times New Roman"/>
              <a:cs typeface="Times New Roman"/>
              <a:sym typeface="Times New Roman"/>
            </a:endParaRPr>
          </a:p>
        </p:txBody>
      </p:sp>
      <p:sp>
        <p:nvSpPr>
          <p:cNvPr id="60" name="Google Shape;60;p3"/>
          <p:cNvSpPr/>
          <p:nvPr/>
        </p:nvSpPr>
        <p:spPr>
          <a:xfrm>
            <a:off x="548640" y="1874520"/>
            <a:ext cx="2606040" cy="2331720"/>
          </a:xfrm>
          <a:prstGeom prst="roundRect">
            <a:avLst>
              <a:gd fmla="val 3137"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61" name="Google Shape;61;p3"/>
          <p:cNvSpPr/>
          <p:nvPr/>
        </p:nvSpPr>
        <p:spPr>
          <a:xfrm>
            <a:off x="548640" y="1874520"/>
            <a:ext cx="2606040" cy="457200"/>
          </a:xfrm>
          <a:prstGeom prst="roundRect">
            <a:avLst>
              <a:gd fmla="val 16000"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62" name="Google Shape;62;p3"/>
          <p:cNvSpPr/>
          <p:nvPr/>
        </p:nvSpPr>
        <p:spPr>
          <a:xfrm>
            <a:off x="548640" y="2103120"/>
            <a:ext cx="2606040" cy="228600"/>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63" name="Google Shape;63;p3"/>
          <p:cNvSpPr/>
          <p:nvPr/>
        </p:nvSpPr>
        <p:spPr>
          <a:xfrm>
            <a:off x="685800" y="1874520"/>
            <a:ext cx="2331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Coast</a:t>
            </a:r>
            <a:endParaRPr i="0" sz="1300" u="none" cap="none" strike="noStrike">
              <a:solidFill>
                <a:schemeClr val="dk1"/>
              </a:solidFill>
              <a:latin typeface="Times New Roman"/>
              <a:ea typeface="Times New Roman"/>
              <a:cs typeface="Times New Roman"/>
              <a:sym typeface="Times New Roman"/>
            </a:endParaRPr>
          </a:p>
        </p:txBody>
      </p:sp>
      <p:sp>
        <p:nvSpPr>
          <p:cNvPr id="64" name="Google Shape;64;p3"/>
          <p:cNvSpPr/>
          <p:nvPr/>
        </p:nvSpPr>
        <p:spPr>
          <a:xfrm>
            <a:off x="713232" y="2441448"/>
            <a:ext cx="2276856" cy="164592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rgbClr val="333333"/>
              </a:buClr>
              <a:buSzPts val="1600"/>
              <a:buFont typeface="Times New Roman"/>
              <a:buChar char="•"/>
            </a:pPr>
            <a:r>
              <a:rPr i="0" lang="en-US" sz="1600" u="none" cap="none" strike="noStrike">
                <a:solidFill>
                  <a:srgbClr val="333333"/>
                </a:solidFill>
                <a:latin typeface="Times New Roman"/>
                <a:ea typeface="Times New Roman"/>
                <a:cs typeface="Times New Roman"/>
                <a:sym typeface="Times New Roman"/>
              </a:rPr>
              <a:t>Tana River, Kilifi, Lamu, Mombasa, Kwale</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rgbClr val="333333"/>
              </a:buClr>
              <a:buSzPts val="1600"/>
              <a:buFont typeface="Times New Roman"/>
              <a:buChar char="•"/>
            </a:pPr>
            <a:r>
              <a:rPr i="0" lang="en-US" sz="1600" u="none" cap="none" strike="noStrike">
                <a:solidFill>
                  <a:srgbClr val="333333"/>
                </a:solidFill>
                <a:latin typeface="Times New Roman"/>
                <a:ea typeface="Times New Roman"/>
                <a:cs typeface="Times New Roman"/>
                <a:sym typeface="Times New Roman"/>
              </a:rPr>
              <a:t>Flooding, storm surge, coastal erosion</a:t>
            </a:r>
            <a:endParaRPr i="0" sz="1600" u="none" cap="none" strike="noStrike">
              <a:solidFill>
                <a:schemeClr val="dk1"/>
              </a:solidFill>
              <a:latin typeface="Times New Roman"/>
              <a:ea typeface="Times New Roman"/>
              <a:cs typeface="Times New Roman"/>
              <a:sym typeface="Times New Roman"/>
            </a:endParaRPr>
          </a:p>
        </p:txBody>
      </p:sp>
      <p:sp>
        <p:nvSpPr>
          <p:cNvPr id="65" name="Google Shape;65;p3"/>
          <p:cNvSpPr/>
          <p:nvPr/>
        </p:nvSpPr>
        <p:spPr>
          <a:xfrm>
            <a:off x="3383280" y="1874520"/>
            <a:ext cx="2606040" cy="2331720"/>
          </a:xfrm>
          <a:prstGeom prst="roundRect">
            <a:avLst>
              <a:gd fmla="val 3137"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66" name="Google Shape;66;p3"/>
          <p:cNvSpPr/>
          <p:nvPr/>
        </p:nvSpPr>
        <p:spPr>
          <a:xfrm>
            <a:off x="3383280" y="1874520"/>
            <a:ext cx="2606040" cy="457200"/>
          </a:xfrm>
          <a:prstGeom prst="roundRect">
            <a:avLst>
              <a:gd fmla="val 16000" name="adj"/>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67" name="Google Shape;67;p3"/>
          <p:cNvSpPr/>
          <p:nvPr/>
        </p:nvSpPr>
        <p:spPr>
          <a:xfrm>
            <a:off x="3383280" y="2103120"/>
            <a:ext cx="2606040" cy="228600"/>
          </a:xfrm>
          <a:prstGeom prst="rect">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68" name="Google Shape;68;p3"/>
          <p:cNvSpPr/>
          <p:nvPr/>
        </p:nvSpPr>
        <p:spPr>
          <a:xfrm>
            <a:off x="3520440" y="1874520"/>
            <a:ext cx="2331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Lake Basin</a:t>
            </a:r>
            <a:endParaRPr i="0" sz="1300" u="none" cap="none" strike="noStrike">
              <a:solidFill>
                <a:schemeClr val="dk1"/>
              </a:solidFill>
              <a:latin typeface="Times New Roman"/>
              <a:ea typeface="Times New Roman"/>
              <a:cs typeface="Times New Roman"/>
              <a:sym typeface="Times New Roman"/>
            </a:endParaRPr>
          </a:p>
        </p:txBody>
      </p:sp>
      <p:sp>
        <p:nvSpPr>
          <p:cNvPr id="69" name="Google Shape;69;p3"/>
          <p:cNvSpPr/>
          <p:nvPr/>
        </p:nvSpPr>
        <p:spPr>
          <a:xfrm>
            <a:off x="3547872" y="2441448"/>
            <a:ext cx="2276856" cy="164592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rgbClr val="333333"/>
              </a:buClr>
              <a:buSzPts val="1600"/>
              <a:buFont typeface="Times New Roman"/>
              <a:buChar char="•"/>
            </a:pPr>
            <a:r>
              <a:rPr i="0" lang="en-US" sz="1600" u="none" cap="none" strike="noStrike">
                <a:solidFill>
                  <a:srgbClr val="333333"/>
                </a:solidFill>
                <a:latin typeface="Times New Roman"/>
                <a:ea typeface="Times New Roman"/>
                <a:cs typeface="Times New Roman"/>
                <a:sym typeface="Times New Roman"/>
              </a:rPr>
              <a:t>Kisumu, Busia, Siaya, Homa Bay, Migori</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rgbClr val="333333"/>
              </a:buClr>
              <a:buSzPts val="1600"/>
              <a:buFont typeface="Times New Roman"/>
              <a:buChar char="•"/>
            </a:pPr>
            <a:r>
              <a:rPr i="0" lang="en-US" sz="1600" u="none" cap="none" strike="noStrike">
                <a:solidFill>
                  <a:srgbClr val="333333"/>
                </a:solidFill>
                <a:latin typeface="Times New Roman"/>
                <a:ea typeface="Times New Roman"/>
                <a:cs typeface="Times New Roman"/>
                <a:sym typeface="Times New Roman"/>
              </a:rPr>
              <a:t>Flooding, landslides, disease outbreaks, displacement</a:t>
            </a:r>
            <a:endParaRPr i="0" sz="1600" u="none" cap="none" strike="noStrike">
              <a:solidFill>
                <a:schemeClr val="dk1"/>
              </a:solidFill>
              <a:latin typeface="Times New Roman"/>
              <a:ea typeface="Times New Roman"/>
              <a:cs typeface="Times New Roman"/>
              <a:sym typeface="Times New Roman"/>
            </a:endParaRPr>
          </a:p>
        </p:txBody>
      </p:sp>
      <p:sp>
        <p:nvSpPr>
          <p:cNvPr id="70" name="Google Shape;70;p3"/>
          <p:cNvSpPr/>
          <p:nvPr/>
        </p:nvSpPr>
        <p:spPr>
          <a:xfrm>
            <a:off x="6217920" y="1874520"/>
            <a:ext cx="2606040" cy="2331720"/>
          </a:xfrm>
          <a:prstGeom prst="roundRect">
            <a:avLst>
              <a:gd fmla="val 3137"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71" name="Google Shape;71;p3"/>
          <p:cNvSpPr/>
          <p:nvPr/>
        </p:nvSpPr>
        <p:spPr>
          <a:xfrm>
            <a:off x="6217920" y="1874520"/>
            <a:ext cx="2606040" cy="457200"/>
          </a:xfrm>
          <a:prstGeom prst="roundRect">
            <a:avLst>
              <a:gd fmla="val 16000" name="adj"/>
            </a:avLst>
          </a:prstGeom>
          <a:solidFill>
            <a:srgbClr val="6E1F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72" name="Google Shape;72;p3"/>
          <p:cNvSpPr/>
          <p:nvPr/>
        </p:nvSpPr>
        <p:spPr>
          <a:xfrm>
            <a:off x="6217920" y="2103120"/>
            <a:ext cx="2606040" cy="228600"/>
          </a:xfrm>
          <a:prstGeom prst="rect">
            <a:avLst/>
          </a:prstGeom>
          <a:solidFill>
            <a:srgbClr val="6E1F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73" name="Google Shape;73;p3"/>
          <p:cNvSpPr/>
          <p:nvPr/>
        </p:nvSpPr>
        <p:spPr>
          <a:xfrm>
            <a:off x="6355080" y="1874520"/>
            <a:ext cx="2331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Rift Valley</a:t>
            </a:r>
            <a:endParaRPr i="0" sz="1300" u="none" cap="none" strike="noStrike">
              <a:solidFill>
                <a:schemeClr val="dk1"/>
              </a:solidFill>
              <a:latin typeface="Times New Roman"/>
              <a:ea typeface="Times New Roman"/>
              <a:cs typeface="Times New Roman"/>
              <a:sym typeface="Times New Roman"/>
            </a:endParaRPr>
          </a:p>
        </p:txBody>
      </p:sp>
      <p:sp>
        <p:nvSpPr>
          <p:cNvPr id="74" name="Google Shape;74;p3"/>
          <p:cNvSpPr/>
          <p:nvPr/>
        </p:nvSpPr>
        <p:spPr>
          <a:xfrm>
            <a:off x="6382512" y="2441448"/>
            <a:ext cx="2276856" cy="164592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rgbClr val="333333"/>
              </a:buClr>
              <a:buSzPts val="1600"/>
              <a:buFont typeface="Times New Roman"/>
              <a:buChar char="•"/>
            </a:pPr>
            <a:r>
              <a:rPr i="0" lang="en-US" sz="1600" u="none" cap="none" strike="noStrike">
                <a:solidFill>
                  <a:srgbClr val="333333"/>
                </a:solidFill>
                <a:latin typeface="Times New Roman"/>
                <a:ea typeface="Times New Roman"/>
                <a:cs typeface="Times New Roman"/>
                <a:sym typeface="Times New Roman"/>
              </a:rPr>
              <a:t>Turkana, Baringo, West Pokot, Narok</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rgbClr val="333333"/>
              </a:buClr>
              <a:buSzPts val="1600"/>
              <a:buFont typeface="Times New Roman"/>
              <a:buChar char="•"/>
            </a:pPr>
            <a:r>
              <a:rPr i="0" lang="en-US" sz="1600" u="none" cap="none" strike="noStrike">
                <a:solidFill>
                  <a:srgbClr val="333333"/>
                </a:solidFill>
                <a:latin typeface="Times New Roman"/>
                <a:ea typeface="Times New Roman"/>
                <a:cs typeface="Times New Roman"/>
                <a:sym typeface="Times New Roman"/>
              </a:rPr>
              <a:t>Drought AND flash floods/landslides; livestock losses</a:t>
            </a:r>
            <a:endParaRPr i="0" sz="1600" u="none" cap="none" strike="noStrike">
              <a:solidFill>
                <a:schemeClr val="dk1"/>
              </a:solidFill>
              <a:latin typeface="Times New Roman"/>
              <a:ea typeface="Times New Roman"/>
              <a:cs typeface="Times New Roman"/>
              <a:sym typeface="Times New Roman"/>
            </a:endParaRPr>
          </a:p>
        </p:txBody>
      </p:sp>
      <p:sp>
        <p:nvSpPr>
          <p:cNvPr id="75" name="Google Shape;75;p3"/>
          <p:cNvSpPr/>
          <p:nvPr/>
        </p:nvSpPr>
        <p:spPr>
          <a:xfrm>
            <a:off x="9052560" y="1874520"/>
            <a:ext cx="2606040" cy="2331720"/>
          </a:xfrm>
          <a:prstGeom prst="roundRect">
            <a:avLst>
              <a:gd fmla="val 3137"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76" name="Google Shape;76;p3"/>
          <p:cNvSpPr/>
          <p:nvPr/>
        </p:nvSpPr>
        <p:spPr>
          <a:xfrm>
            <a:off x="9052560" y="1874520"/>
            <a:ext cx="2606040" cy="457200"/>
          </a:xfrm>
          <a:prstGeom prst="roundRect">
            <a:avLst>
              <a:gd fmla="val 16000" name="adj"/>
            </a:avLst>
          </a:prstGeom>
          <a:solidFill>
            <a:srgbClr val="E8B9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77" name="Google Shape;77;p3"/>
          <p:cNvSpPr/>
          <p:nvPr/>
        </p:nvSpPr>
        <p:spPr>
          <a:xfrm>
            <a:off x="9052560" y="2103120"/>
            <a:ext cx="2606040" cy="228600"/>
          </a:xfrm>
          <a:prstGeom prst="rect">
            <a:avLst/>
          </a:prstGeom>
          <a:solidFill>
            <a:srgbClr val="E8B9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78" name="Google Shape;78;p3"/>
          <p:cNvSpPr/>
          <p:nvPr/>
        </p:nvSpPr>
        <p:spPr>
          <a:xfrm>
            <a:off x="9189720" y="1874520"/>
            <a:ext cx="2331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North Eastern</a:t>
            </a:r>
            <a:endParaRPr i="0" sz="1300" u="none" cap="none" strike="noStrike">
              <a:solidFill>
                <a:schemeClr val="dk1"/>
              </a:solidFill>
              <a:latin typeface="Times New Roman"/>
              <a:ea typeface="Times New Roman"/>
              <a:cs typeface="Times New Roman"/>
              <a:sym typeface="Times New Roman"/>
            </a:endParaRPr>
          </a:p>
        </p:txBody>
      </p:sp>
      <p:sp>
        <p:nvSpPr>
          <p:cNvPr id="79" name="Google Shape;79;p3"/>
          <p:cNvSpPr/>
          <p:nvPr/>
        </p:nvSpPr>
        <p:spPr>
          <a:xfrm>
            <a:off x="9217152" y="2441448"/>
            <a:ext cx="2276856" cy="164592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rgbClr val="333333"/>
              </a:buClr>
              <a:buSzPts val="1600"/>
              <a:buFont typeface="Times New Roman"/>
              <a:buChar char="•"/>
            </a:pPr>
            <a:r>
              <a:rPr i="0" lang="en-US" sz="1600" u="none" cap="none" strike="noStrike">
                <a:solidFill>
                  <a:srgbClr val="333333"/>
                </a:solidFill>
                <a:latin typeface="Times New Roman"/>
                <a:ea typeface="Times New Roman"/>
                <a:cs typeface="Times New Roman"/>
                <a:sym typeface="Times New Roman"/>
              </a:rPr>
              <a:t>Garissa, Wajir, Mandera</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rgbClr val="333333"/>
              </a:buClr>
              <a:buSzPts val="1600"/>
              <a:buFont typeface="Times New Roman"/>
              <a:buChar char="•"/>
            </a:pPr>
            <a:r>
              <a:rPr i="0" lang="en-US" sz="1600" u="none" cap="none" strike="noStrike">
                <a:solidFill>
                  <a:srgbClr val="333333"/>
                </a:solidFill>
                <a:latin typeface="Times New Roman"/>
                <a:ea typeface="Times New Roman"/>
                <a:cs typeface="Times New Roman"/>
                <a:sym typeface="Times New Roman"/>
              </a:rPr>
              <a:t>Chronic drought, water shortage, livestock losses</a:t>
            </a:r>
            <a:endParaRPr i="0" sz="1600" u="none" cap="none" strike="noStrike">
              <a:solidFill>
                <a:schemeClr val="dk1"/>
              </a:solidFill>
              <a:latin typeface="Times New Roman"/>
              <a:ea typeface="Times New Roman"/>
              <a:cs typeface="Times New Roman"/>
              <a:sym typeface="Times New Roman"/>
            </a:endParaRPr>
          </a:p>
        </p:txBody>
      </p:sp>
      <p:sp>
        <p:nvSpPr>
          <p:cNvPr id="80" name="Google Shape;80;p3"/>
          <p:cNvSpPr/>
          <p:nvPr/>
        </p:nvSpPr>
        <p:spPr>
          <a:xfrm>
            <a:off x="548640" y="4434840"/>
            <a:ext cx="11064240" cy="1417320"/>
          </a:xfrm>
          <a:prstGeom prst="roundRect">
            <a:avLst>
              <a:gd fmla="val 5161"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81" name="Google Shape;81;p3"/>
          <p:cNvSpPr/>
          <p:nvPr/>
        </p:nvSpPr>
        <p:spPr>
          <a:xfrm>
            <a:off x="822960" y="4617720"/>
            <a:ext cx="1051560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FFFFFF"/>
              </a:buClr>
              <a:buSzPts val="1300"/>
              <a:buFont typeface="Calibri"/>
              <a:buNone/>
            </a:pPr>
            <a:r>
              <a:rPr b="1" i="0" lang="en-US" sz="1600" u="none" cap="none" strike="noStrike">
                <a:solidFill>
                  <a:srgbClr val="FFFFFF"/>
                </a:solidFill>
                <a:latin typeface="Times New Roman"/>
                <a:ea typeface="Times New Roman"/>
                <a:cs typeface="Times New Roman"/>
                <a:sym typeface="Times New Roman"/>
              </a:rPr>
              <a:t>Also flagged: </a:t>
            </a:r>
            <a:r>
              <a:rPr i="0" lang="en-US" sz="1600" u="none" cap="none" strike="noStrike">
                <a:solidFill>
                  <a:srgbClr val="CADCFC"/>
                </a:solidFill>
                <a:latin typeface="Times New Roman"/>
                <a:ea typeface="Times New Roman"/>
                <a:cs typeface="Times New Roman"/>
                <a:sym typeface="Times New Roman"/>
              </a:rPr>
              <a:t>Nairobi, Mombasa and Kisumu as high-risk urban centres, where poor drainage and strained infrastructure could turn heavy rainfall into a humanitarian emergency. Kenya's last severe episode (1997–98) displaced thousands; 2015–16 and 2023–24 events each caused major loss of life and damage.</a:t>
            </a:r>
            <a:endParaRPr i="0" sz="1600" u="none" cap="none" strike="noStrike">
              <a:solidFill>
                <a:schemeClr val="dk1"/>
              </a:solidFill>
              <a:latin typeface="Times New Roman"/>
              <a:ea typeface="Times New Roman"/>
              <a:cs typeface="Times New Roman"/>
              <a:sym typeface="Times New Roman"/>
            </a:endParaRPr>
          </a:p>
        </p:txBody>
      </p:sp>
      <p:sp>
        <p:nvSpPr>
          <p:cNvPr id="82" name="Google Shape;82;p3"/>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83" name="Google Shape;83;p3"/>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3</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4"/>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The Gap This Project Addresses</a:t>
            </a:r>
            <a:endParaRPr sz="3000">
              <a:solidFill>
                <a:schemeClr val="dk1"/>
              </a:solidFill>
              <a:latin typeface="Times New Roman"/>
              <a:ea typeface="Times New Roman"/>
              <a:cs typeface="Times New Roman"/>
              <a:sym typeface="Times New Roman"/>
            </a:endParaRPr>
          </a:p>
        </p:txBody>
      </p:sp>
      <p:sp>
        <p:nvSpPr>
          <p:cNvPr id="90" name="Google Shape;90;p4"/>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Forecasts Tell Us Where. They Don't Tell Us Who.</a:t>
            </a:r>
            <a:endParaRPr i="0" sz="3000" u="none" cap="none" strike="noStrike">
              <a:solidFill>
                <a:schemeClr val="dk1"/>
              </a:solidFill>
              <a:latin typeface="Times New Roman"/>
              <a:ea typeface="Times New Roman"/>
              <a:cs typeface="Times New Roman"/>
              <a:sym typeface="Times New Roman"/>
            </a:endParaRPr>
          </a:p>
        </p:txBody>
      </p:sp>
      <p:sp>
        <p:nvSpPr>
          <p:cNvPr id="91" name="Google Shape;91;p4"/>
          <p:cNvSpPr/>
          <p:nvPr/>
        </p:nvSpPr>
        <p:spPr>
          <a:xfrm>
            <a:off x="548640" y="1234440"/>
            <a:ext cx="108813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1400"/>
              <a:buFont typeface="Calibri"/>
              <a:buNone/>
            </a:pPr>
            <a:r>
              <a:rPr i="0" lang="en-US" sz="1600" u="none" cap="none" strike="noStrike">
                <a:solidFill>
                  <a:schemeClr val="dk1"/>
                </a:solidFill>
                <a:latin typeface="Times New Roman"/>
                <a:ea typeface="Times New Roman"/>
                <a:cs typeface="Times New Roman"/>
                <a:sym typeface="Times New Roman"/>
              </a:rPr>
              <a:t>NDOC's risk map identifies vulnerable counties. It cannot tell a caseworker which specific household, among thousands, needs help first when a flood or drought hits.</a:t>
            </a:r>
            <a:endParaRPr i="0" sz="1600" u="none" cap="none" strike="noStrike">
              <a:solidFill>
                <a:schemeClr val="dk1"/>
              </a:solidFill>
              <a:latin typeface="Times New Roman"/>
              <a:ea typeface="Times New Roman"/>
              <a:cs typeface="Times New Roman"/>
              <a:sym typeface="Times New Roman"/>
            </a:endParaRPr>
          </a:p>
        </p:txBody>
      </p:sp>
      <p:sp>
        <p:nvSpPr>
          <p:cNvPr id="92" name="Google Shape;92;p4"/>
          <p:cNvSpPr/>
          <p:nvPr/>
        </p:nvSpPr>
        <p:spPr>
          <a:xfrm>
            <a:off x="548640" y="2103120"/>
            <a:ext cx="11064240" cy="914400"/>
          </a:xfrm>
          <a:prstGeom prst="roundRect">
            <a:avLst>
              <a:gd fmla="val 8000"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93" name="Google Shape;93;p4"/>
          <p:cNvSpPr/>
          <p:nvPr/>
        </p:nvSpPr>
        <p:spPr>
          <a:xfrm>
            <a:off x="822960" y="2377440"/>
            <a:ext cx="320040" cy="320040"/>
          </a:xfrm>
          <a:prstGeom prst="rect">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94" name="Google Shape;94;p4"/>
          <p:cNvSpPr/>
          <p:nvPr/>
        </p:nvSpPr>
        <p:spPr>
          <a:xfrm>
            <a:off x="1371600" y="2212848"/>
            <a:ext cx="384048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libri"/>
              <a:buNone/>
            </a:pPr>
            <a:r>
              <a:rPr b="1" i="0" lang="en-US" sz="1600" u="none" cap="none" strike="noStrike">
                <a:solidFill>
                  <a:srgbClr val="1E2761"/>
                </a:solidFill>
                <a:latin typeface="Times New Roman"/>
                <a:ea typeface="Times New Roman"/>
                <a:cs typeface="Times New Roman"/>
                <a:sym typeface="Times New Roman"/>
              </a:rPr>
              <a:t>Regional risk maps</a:t>
            </a:r>
            <a:endParaRPr i="0" sz="1600" u="none" cap="none" strike="noStrike">
              <a:solidFill>
                <a:schemeClr val="dk1"/>
              </a:solidFill>
              <a:latin typeface="Times New Roman"/>
              <a:ea typeface="Times New Roman"/>
              <a:cs typeface="Times New Roman"/>
              <a:sym typeface="Times New Roman"/>
            </a:endParaRPr>
          </a:p>
        </p:txBody>
      </p:sp>
      <p:sp>
        <p:nvSpPr>
          <p:cNvPr id="95" name="Google Shape;95;p4"/>
          <p:cNvSpPr/>
          <p:nvPr/>
        </p:nvSpPr>
        <p:spPr>
          <a:xfrm>
            <a:off x="5303520" y="2212848"/>
            <a:ext cx="60350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300"/>
              <a:buFont typeface="Calibri"/>
              <a:buNone/>
            </a:pPr>
            <a:r>
              <a:rPr i="0" lang="en-US" sz="1600" u="none" cap="none" strike="noStrike">
                <a:solidFill>
                  <a:schemeClr val="dk1"/>
                </a:solidFill>
                <a:latin typeface="Times New Roman"/>
                <a:ea typeface="Times New Roman"/>
                <a:cs typeface="Times New Roman"/>
                <a:sym typeface="Times New Roman"/>
              </a:rPr>
              <a:t>County-level, static, updated periodically</a:t>
            </a:r>
            <a:endParaRPr i="0" sz="1600" u="none" cap="none" strike="noStrike">
              <a:solidFill>
                <a:schemeClr val="dk1"/>
              </a:solidFill>
              <a:latin typeface="Times New Roman"/>
              <a:ea typeface="Times New Roman"/>
              <a:cs typeface="Times New Roman"/>
              <a:sym typeface="Times New Roman"/>
            </a:endParaRPr>
          </a:p>
        </p:txBody>
      </p:sp>
      <p:sp>
        <p:nvSpPr>
          <p:cNvPr id="96" name="Google Shape;96;p4"/>
          <p:cNvSpPr/>
          <p:nvPr/>
        </p:nvSpPr>
        <p:spPr>
          <a:xfrm>
            <a:off x="548640" y="3246120"/>
            <a:ext cx="11064240" cy="914400"/>
          </a:xfrm>
          <a:prstGeom prst="roundRect">
            <a:avLst>
              <a:gd fmla="val 8000" name="adj"/>
            </a:avLst>
          </a:prstGeom>
          <a:solidFill>
            <a:srgbClr val="EFF7E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97" name="Google Shape;97;p4"/>
          <p:cNvSpPr/>
          <p:nvPr/>
        </p:nvSpPr>
        <p:spPr>
          <a:xfrm>
            <a:off x="822960" y="3520440"/>
            <a:ext cx="320040" cy="320040"/>
          </a:xfrm>
          <a:prstGeom prst="rect">
            <a:avLst/>
          </a:prstGeom>
          <a:solidFill>
            <a:srgbClr val="3D89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98" name="Google Shape;98;p4"/>
          <p:cNvSpPr/>
          <p:nvPr/>
        </p:nvSpPr>
        <p:spPr>
          <a:xfrm>
            <a:off x="1371600" y="3355848"/>
            <a:ext cx="384048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libri"/>
              <a:buNone/>
            </a:pPr>
            <a:r>
              <a:rPr b="1" i="0" lang="en-US" sz="1600" u="none" cap="none" strike="noStrike">
                <a:solidFill>
                  <a:srgbClr val="1E2761"/>
                </a:solidFill>
                <a:latin typeface="Times New Roman"/>
                <a:ea typeface="Times New Roman"/>
                <a:cs typeface="Times New Roman"/>
                <a:sym typeface="Times New Roman"/>
              </a:rPr>
              <a:t>Household screening (this project)</a:t>
            </a:r>
            <a:endParaRPr i="0" sz="1600" u="none" cap="none" strike="noStrike">
              <a:solidFill>
                <a:schemeClr val="dk1"/>
              </a:solidFill>
              <a:latin typeface="Times New Roman"/>
              <a:ea typeface="Times New Roman"/>
              <a:cs typeface="Times New Roman"/>
              <a:sym typeface="Times New Roman"/>
            </a:endParaRPr>
          </a:p>
        </p:txBody>
      </p:sp>
      <p:sp>
        <p:nvSpPr>
          <p:cNvPr id="99" name="Google Shape;99;p4"/>
          <p:cNvSpPr/>
          <p:nvPr/>
        </p:nvSpPr>
        <p:spPr>
          <a:xfrm>
            <a:off x="5303520" y="3355848"/>
            <a:ext cx="603504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300"/>
              <a:buFont typeface="Calibri"/>
              <a:buNone/>
            </a:pPr>
            <a:r>
              <a:rPr i="0" lang="en-US" sz="1600" u="none" cap="none" strike="noStrike">
                <a:solidFill>
                  <a:schemeClr val="dk1"/>
                </a:solidFill>
                <a:latin typeface="Times New Roman"/>
                <a:ea typeface="Times New Roman"/>
                <a:cs typeface="Times New Roman"/>
                <a:sym typeface="Times New Roman"/>
              </a:rPr>
              <a:t>Individual-level, uses live household data, ranks by predicted severity</a:t>
            </a:r>
            <a:endParaRPr i="0" sz="1600" u="none" cap="none" strike="noStrike">
              <a:solidFill>
                <a:schemeClr val="dk1"/>
              </a:solidFill>
              <a:latin typeface="Times New Roman"/>
              <a:ea typeface="Times New Roman"/>
              <a:cs typeface="Times New Roman"/>
              <a:sym typeface="Times New Roman"/>
            </a:endParaRPr>
          </a:p>
        </p:txBody>
      </p:sp>
      <p:sp>
        <p:nvSpPr>
          <p:cNvPr id="100" name="Google Shape;100;p4"/>
          <p:cNvSpPr/>
          <p:nvPr/>
        </p:nvSpPr>
        <p:spPr>
          <a:xfrm>
            <a:off x="548640" y="4526280"/>
            <a:ext cx="1106424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400"/>
              <a:buFont typeface="Cambria"/>
              <a:buNone/>
            </a:pPr>
            <a:r>
              <a:rPr i="1" lang="en-US" sz="1800" u="none" cap="none" strike="noStrike">
                <a:solidFill>
                  <a:schemeClr val="dk1"/>
                </a:solidFill>
                <a:latin typeface="Times New Roman"/>
                <a:ea typeface="Times New Roman"/>
                <a:cs typeface="Times New Roman"/>
                <a:sym typeface="Times New Roman"/>
              </a:rPr>
              <a:t>A model trained on real household survey data can flag the individual families most likely to be severely food insecure</a:t>
            </a:r>
            <a:r>
              <a:rPr i="1" lang="en-US" sz="1800">
                <a:solidFill>
                  <a:schemeClr val="dk1"/>
                </a:solidFill>
                <a:latin typeface="Times New Roman"/>
                <a:ea typeface="Times New Roman"/>
                <a:cs typeface="Times New Roman"/>
                <a:sym typeface="Times New Roman"/>
              </a:rPr>
              <a:t>, </a:t>
            </a:r>
            <a:r>
              <a:rPr i="1" lang="en-US" sz="1800" u="none" cap="none" strike="noStrike">
                <a:solidFill>
                  <a:schemeClr val="dk1"/>
                </a:solidFill>
                <a:latin typeface="Times New Roman"/>
                <a:ea typeface="Times New Roman"/>
                <a:cs typeface="Times New Roman"/>
                <a:sym typeface="Times New Roman"/>
              </a:rPr>
              <a:t>inside a risk county or outside it</a:t>
            </a:r>
            <a:r>
              <a:rPr i="1" lang="en-US" sz="1800">
                <a:solidFill>
                  <a:schemeClr val="dk1"/>
                </a:solidFill>
                <a:latin typeface="Times New Roman"/>
                <a:ea typeface="Times New Roman"/>
                <a:cs typeface="Times New Roman"/>
                <a:sym typeface="Times New Roman"/>
              </a:rPr>
              <a:t>, </a:t>
            </a:r>
            <a:r>
              <a:rPr i="1" lang="en-US" sz="1800" u="none" cap="none" strike="noStrike">
                <a:solidFill>
                  <a:schemeClr val="dk1"/>
                </a:solidFill>
                <a:latin typeface="Times New Roman"/>
                <a:ea typeface="Times New Roman"/>
                <a:cs typeface="Times New Roman"/>
                <a:sym typeface="Times New Roman"/>
              </a:rPr>
              <a:t>before an NGO or government team even arrives on the ground.</a:t>
            </a:r>
            <a:endParaRPr i="0" sz="1800" u="none" cap="none" strike="noStrike">
              <a:solidFill>
                <a:schemeClr val="dk1"/>
              </a:solidFill>
              <a:latin typeface="Times New Roman"/>
              <a:ea typeface="Times New Roman"/>
              <a:cs typeface="Times New Roman"/>
              <a:sym typeface="Times New Roman"/>
            </a:endParaRPr>
          </a:p>
        </p:txBody>
      </p:sp>
      <p:sp>
        <p:nvSpPr>
          <p:cNvPr id="101" name="Google Shape;101;p4"/>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102" name="Google Shape;102;p4"/>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4</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5"/>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Capstone Problem Statement</a:t>
            </a:r>
            <a:endParaRPr sz="3000">
              <a:solidFill>
                <a:schemeClr val="dk1"/>
              </a:solidFill>
              <a:latin typeface="Times New Roman"/>
              <a:ea typeface="Times New Roman"/>
              <a:cs typeface="Times New Roman"/>
              <a:sym typeface="Times New Roman"/>
            </a:endParaRPr>
          </a:p>
        </p:txBody>
      </p:sp>
      <p:sp>
        <p:nvSpPr>
          <p:cNvPr id="109" name="Google Shape;109;p5"/>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What This Model Predicts, For Whom, and How</a:t>
            </a:r>
            <a:endParaRPr i="0" sz="3000" u="none" cap="none" strike="noStrike">
              <a:solidFill>
                <a:schemeClr val="dk1"/>
              </a:solidFill>
              <a:latin typeface="Times New Roman"/>
              <a:ea typeface="Times New Roman"/>
              <a:cs typeface="Times New Roman"/>
              <a:sym typeface="Times New Roman"/>
            </a:endParaRPr>
          </a:p>
        </p:txBody>
      </p:sp>
      <p:sp>
        <p:nvSpPr>
          <p:cNvPr id="110" name="Google Shape;110;p5"/>
          <p:cNvSpPr/>
          <p:nvPr/>
        </p:nvSpPr>
        <p:spPr>
          <a:xfrm>
            <a:off x="548640" y="1371600"/>
            <a:ext cx="11064240" cy="1051560"/>
          </a:xfrm>
          <a:prstGeom prst="roundRect">
            <a:avLst>
              <a:gd fmla="val 5217"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11" name="Google Shape;111;p5"/>
          <p:cNvSpPr/>
          <p:nvPr/>
        </p:nvSpPr>
        <p:spPr>
          <a:xfrm>
            <a:off x="777240" y="1463040"/>
            <a:ext cx="27432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62C"/>
              </a:buClr>
              <a:buSzPts val="1350"/>
              <a:buFont typeface="Calibri"/>
              <a:buNone/>
            </a:pPr>
            <a:r>
              <a:rPr b="1" i="0" lang="en-US" sz="1350" u="none" cap="none" strike="noStrike">
                <a:solidFill>
                  <a:srgbClr val="E0762C"/>
                </a:solidFill>
                <a:latin typeface="Times New Roman"/>
                <a:ea typeface="Times New Roman"/>
                <a:cs typeface="Times New Roman"/>
                <a:sym typeface="Times New Roman"/>
              </a:rPr>
              <a:t>Target variable</a:t>
            </a:r>
            <a:endParaRPr i="0" sz="1350" u="none" cap="none" strike="noStrike">
              <a:solidFill>
                <a:schemeClr val="dk1"/>
              </a:solidFill>
              <a:latin typeface="Times New Roman"/>
              <a:ea typeface="Times New Roman"/>
              <a:cs typeface="Times New Roman"/>
              <a:sym typeface="Times New Roman"/>
            </a:endParaRPr>
          </a:p>
        </p:txBody>
      </p:sp>
      <p:sp>
        <p:nvSpPr>
          <p:cNvPr id="112" name="Google Shape;112;p5"/>
          <p:cNvSpPr/>
          <p:nvPr/>
        </p:nvSpPr>
        <p:spPr>
          <a:xfrm>
            <a:off x="3657600" y="1463040"/>
            <a:ext cx="77724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50"/>
              <a:buFont typeface="Calibri"/>
              <a:buNone/>
            </a:pPr>
            <a:r>
              <a:rPr i="0" lang="en-US" sz="1600" u="none" cap="none" strike="noStrike">
                <a:solidFill>
                  <a:schemeClr val="dk1"/>
                </a:solidFill>
                <a:latin typeface="Times New Roman"/>
                <a:ea typeface="Times New Roman"/>
                <a:cs typeface="Times New Roman"/>
                <a:sym typeface="Times New Roman"/>
              </a:rPr>
              <a:t>A 4-class household food security status</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 food secure, mildly, moderately, or severely insecure</a:t>
            </a:r>
            <a:r>
              <a:rPr lang="en-US" sz="1600">
                <a:solidFill>
                  <a:schemeClr val="dk1"/>
                </a:solidFill>
                <a:latin typeface="Times New Roman"/>
                <a:ea typeface="Times New Roman"/>
                <a:cs typeface="Times New Roman"/>
                <a:sym typeface="Times New Roman"/>
              </a:rPr>
              <a:t>. It is</a:t>
            </a:r>
            <a:r>
              <a:rPr i="0" lang="en-US" sz="1600" u="none" cap="none" strike="noStrike">
                <a:solidFill>
                  <a:schemeClr val="dk1"/>
                </a:solidFill>
                <a:latin typeface="Times New Roman"/>
                <a:ea typeface="Times New Roman"/>
                <a:cs typeface="Times New Roman"/>
                <a:sym typeface="Times New Roman"/>
              </a:rPr>
              <a:t> built from a standards-based (HFIAS/CARI-style) severity score</a:t>
            </a:r>
            <a:endParaRPr i="0" sz="1600" u="none" cap="none" strike="noStrike">
              <a:solidFill>
                <a:schemeClr val="dk1"/>
              </a:solidFill>
              <a:latin typeface="Times New Roman"/>
              <a:ea typeface="Times New Roman"/>
              <a:cs typeface="Times New Roman"/>
              <a:sym typeface="Times New Roman"/>
            </a:endParaRPr>
          </a:p>
        </p:txBody>
      </p:sp>
      <p:sp>
        <p:nvSpPr>
          <p:cNvPr id="113" name="Google Shape;113;p5"/>
          <p:cNvSpPr/>
          <p:nvPr/>
        </p:nvSpPr>
        <p:spPr>
          <a:xfrm>
            <a:off x="548640" y="2578608"/>
            <a:ext cx="11064240" cy="1051560"/>
          </a:xfrm>
          <a:prstGeom prst="roundRect">
            <a:avLst>
              <a:gd fmla="val 5217"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14" name="Google Shape;114;p5"/>
          <p:cNvSpPr/>
          <p:nvPr/>
        </p:nvSpPr>
        <p:spPr>
          <a:xfrm>
            <a:off x="777240" y="2670048"/>
            <a:ext cx="27432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62C"/>
              </a:buClr>
              <a:buSzPts val="1350"/>
              <a:buFont typeface="Calibri"/>
              <a:buNone/>
            </a:pPr>
            <a:r>
              <a:rPr b="1" i="0" lang="en-US" sz="1350" u="none" cap="none" strike="noStrike">
                <a:solidFill>
                  <a:srgbClr val="E0762C"/>
                </a:solidFill>
                <a:latin typeface="Times New Roman"/>
                <a:ea typeface="Times New Roman"/>
                <a:cs typeface="Times New Roman"/>
                <a:sym typeface="Times New Roman"/>
              </a:rPr>
              <a:t>Population</a:t>
            </a:r>
            <a:endParaRPr i="0" sz="1350" u="none" cap="none" strike="noStrike">
              <a:solidFill>
                <a:schemeClr val="dk1"/>
              </a:solidFill>
              <a:latin typeface="Times New Roman"/>
              <a:ea typeface="Times New Roman"/>
              <a:cs typeface="Times New Roman"/>
              <a:sym typeface="Times New Roman"/>
            </a:endParaRPr>
          </a:p>
        </p:txBody>
      </p:sp>
      <p:sp>
        <p:nvSpPr>
          <p:cNvPr id="115" name="Google Shape;115;p5"/>
          <p:cNvSpPr/>
          <p:nvPr/>
        </p:nvSpPr>
        <p:spPr>
          <a:xfrm>
            <a:off x="3657600" y="2670048"/>
            <a:ext cx="77724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50"/>
              <a:buFont typeface="Calibri"/>
              <a:buNone/>
            </a:pPr>
            <a:r>
              <a:rPr i="0" lang="en-US" sz="1600" u="none" cap="none" strike="noStrike">
                <a:solidFill>
                  <a:schemeClr val="dk1"/>
                </a:solidFill>
                <a:latin typeface="Times New Roman"/>
                <a:ea typeface="Times New Roman"/>
                <a:cs typeface="Times New Roman"/>
                <a:sym typeface="Times New Roman"/>
              </a:rPr>
              <a:t>Kenyan households, reachable by phone, surveyed in the Wave 4 Kenya COVID-19 Rapid Response Phone Survey (World Bank / KNBS / UNHCR)</a:t>
            </a:r>
            <a:endParaRPr i="0" sz="1600" u="none" cap="none" strike="noStrike">
              <a:solidFill>
                <a:schemeClr val="dk1"/>
              </a:solidFill>
              <a:latin typeface="Times New Roman"/>
              <a:ea typeface="Times New Roman"/>
              <a:cs typeface="Times New Roman"/>
              <a:sym typeface="Times New Roman"/>
            </a:endParaRPr>
          </a:p>
        </p:txBody>
      </p:sp>
      <p:sp>
        <p:nvSpPr>
          <p:cNvPr id="116" name="Google Shape;116;p5"/>
          <p:cNvSpPr/>
          <p:nvPr/>
        </p:nvSpPr>
        <p:spPr>
          <a:xfrm>
            <a:off x="548640" y="3785616"/>
            <a:ext cx="11064240" cy="1051560"/>
          </a:xfrm>
          <a:prstGeom prst="roundRect">
            <a:avLst>
              <a:gd fmla="val 5217"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17" name="Google Shape;117;p5"/>
          <p:cNvSpPr/>
          <p:nvPr/>
        </p:nvSpPr>
        <p:spPr>
          <a:xfrm>
            <a:off x="777240" y="3877056"/>
            <a:ext cx="27432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62C"/>
              </a:buClr>
              <a:buSzPts val="1350"/>
              <a:buFont typeface="Calibri"/>
              <a:buNone/>
            </a:pPr>
            <a:r>
              <a:rPr b="1" i="0" lang="en-US" sz="1350" u="none" cap="none" strike="noStrike">
                <a:solidFill>
                  <a:srgbClr val="E0762C"/>
                </a:solidFill>
                <a:latin typeface="Times New Roman"/>
                <a:ea typeface="Times New Roman"/>
                <a:cs typeface="Times New Roman"/>
                <a:sym typeface="Times New Roman"/>
              </a:rPr>
              <a:t>Features used</a:t>
            </a:r>
            <a:endParaRPr i="0" sz="1350" u="none" cap="none" strike="noStrike">
              <a:solidFill>
                <a:schemeClr val="dk1"/>
              </a:solidFill>
              <a:latin typeface="Times New Roman"/>
              <a:ea typeface="Times New Roman"/>
              <a:cs typeface="Times New Roman"/>
              <a:sym typeface="Times New Roman"/>
            </a:endParaRPr>
          </a:p>
        </p:txBody>
      </p:sp>
      <p:sp>
        <p:nvSpPr>
          <p:cNvPr id="118" name="Google Shape;118;p5"/>
          <p:cNvSpPr/>
          <p:nvPr/>
        </p:nvSpPr>
        <p:spPr>
          <a:xfrm>
            <a:off x="3657600" y="3877056"/>
            <a:ext cx="77724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50"/>
              <a:buFont typeface="Calibri"/>
              <a:buNone/>
            </a:pPr>
            <a:r>
              <a:rPr i="0" lang="en-US" sz="1600" u="none" cap="none" strike="noStrike">
                <a:solidFill>
                  <a:schemeClr val="dk1"/>
                </a:solidFill>
                <a:latin typeface="Times New Roman"/>
                <a:ea typeface="Times New Roman"/>
                <a:cs typeface="Times New Roman"/>
                <a:sym typeface="Times New Roman"/>
              </a:rPr>
              <a:t>~6</a:t>
            </a:r>
            <a:r>
              <a:rPr lang="en-US" sz="1600">
                <a:solidFill>
                  <a:schemeClr val="dk1"/>
                </a:solidFill>
                <a:latin typeface="Times New Roman"/>
                <a:ea typeface="Times New Roman"/>
                <a:cs typeface="Times New Roman"/>
                <a:sym typeface="Times New Roman"/>
              </a:rPr>
              <a:t>8</a:t>
            </a:r>
            <a:r>
              <a:rPr i="0" lang="en-US" sz="1600" u="none" cap="none" strike="noStrike">
                <a:solidFill>
                  <a:schemeClr val="dk1"/>
                </a:solidFill>
                <a:latin typeface="Times New Roman"/>
                <a:ea typeface="Times New Roman"/>
                <a:cs typeface="Times New Roman"/>
                <a:sym typeface="Times New Roman"/>
              </a:rPr>
              <a:t> household characteristics: assets, housing materials, employment, farming, expenditure, transfers, health access, and county</a:t>
            </a:r>
            <a:endParaRPr i="0" sz="1600" u="none" cap="none" strike="noStrike">
              <a:solidFill>
                <a:schemeClr val="dk1"/>
              </a:solidFill>
              <a:latin typeface="Times New Roman"/>
              <a:ea typeface="Times New Roman"/>
              <a:cs typeface="Times New Roman"/>
              <a:sym typeface="Times New Roman"/>
            </a:endParaRPr>
          </a:p>
        </p:txBody>
      </p:sp>
      <p:sp>
        <p:nvSpPr>
          <p:cNvPr id="119" name="Google Shape;119;p5"/>
          <p:cNvSpPr/>
          <p:nvPr/>
        </p:nvSpPr>
        <p:spPr>
          <a:xfrm>
            <a:off x="548640" y="4992624"/>
            <a:ext cx="11064240" cy="1051560"/>
          </a:xfrm>
          <a:prstGeom prst="roundRect">
            <a:avLst>
              <a:gd fmla="val 5217"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20" name="Google Shape;120;p5"/>
          <p:cNvSpPr/>
          <p:nvPr/>
        </p:nvSpPr>
        <p:spPr>
          <a:xfrm>
            <a:off x="777240" y="5084064"/>
            <a:ext cx="27432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62C"/>
              </a:buClr>
              <a:buSzPts val="1350"/>
              <a:buFont typeface="Calibri"/>
              <a:buNone/>
            </a:pPr>
            <a:r>
              <a:rPr b="1" i="0" lang="en-US" sz="1350" u="none" cap="none" strike="noStrike">
                <a:solidFill>
                  <a:srgbClr val="E0762C"/>
                </a:solidFill>
                <a:latin typeface="Times New Roman"/>
                <a:ea typeface="Times New Roman"/>
                <a:cs typeface="Times New Roman"/>
                <a:sym typeface="Times New Roman"/>
              </a:rPr>
              <a:t>Primary metric</a:t>
            </a:r>
            <a:endParaRPr i="0" sz="1350" u="none" cap="none" strike="noStrike">
              <a:solidFill>
                <a:schemeClr val="dk1"/>
              </a:solidFill>
              <a:latin typeface="Times New Roman"/>
              <a:ea typeface="Times New Roman"/>
              <a:cs typeface="Times New Roman"/>
              <a:sym typeface="Times New Roman"/>
            </a:endParaRPr>
          </a:p>
        </p:txBody>
      </p:sp>
      <p:sp>
        <p:nvSpPr>
          <p:cNvPr id="121" name="Google Shape;121;p5"/>
          <p:cNvSpPr/>
          <p:nvPr/>
        </p:nvSpPr>
        <p:spPr>
          <a:xfrm>
            <a:off x="3657600" y="5084064"/>
            <a:ext cx="77724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50"/>
              <a:buFont typeface="Calibri"/>
              <a:buNone/>
            </a:pPr>
            <a:r>
              <a:rPr i="0" lang="en-US" sz="1600" u="none" cap="none" strike="noStrike">
                <a:solidFill>
                  <a:schemeClr val="dk1"/>
                </a:solidFill>
                <a:latin typeface="Times New Roman"/>
                <a:ea typeface="Times New Roman"/>
                <a:cs typeface="Times New Roman"/>
                <a:sym typeface="Times New Roman"/>
              </a:rPr>
              <a:t>Macro F1 (treats all four severity classes equally</a:t>
            </a:r>
            <a:r>
              <a:rPr lang="en-US" sz="1600">
                <a:solidFill>
                  <a:schemeClr val="dk1"/>
                </a:solidFill>
                <a:latin typeface="Times New Roman"/>
                <a:ea typeface="Times New Roman"/>
                <a:cs typeface="Times New Roman"/>
                <a:sym typeface="Times New Roman"/>
              </a:rPr>
              <a:t> which is </a:t>
            </a:r>
            <a:r>
              <a:rPr i="0" lang="en-US" sz="1600" u="none" cap="none" strike="noStrike">
                <a:solidFill>
                  <a:schemeClr val="dk1"/>
                </a:solidFill>
                <a:latin typeface="Times New Roman"/>
                <a:ea typeface="Times New Roman"/>
                <a:cs typeface="Times New Roman"/>
                <a:sym typeface="Times New Roman"/>
              </a:rPr>
              <a:t>critical given class imbalance), reported alongside weighted F1 and a majority-class baseline</a:t>
            </a:r>
            <a:endParaRPr i="0" sz="1600" u="none" cap="none" strike="noStrike">
              <a:solidFill>
                <a:schemeClr val="dk1"/>
              </a:solidFill>
              <a:latin typeface="Times New Roman"/>
              <a:ea typeface="Times New Roman"/>
              <a:cs typeface="Times New Roman"/>
              <a:sym typeface="Times New Roman"/>
            </a:endParaRPr>
          </a:p>
        </p:txBody>
      </p:sp>
      <p:sp>
        <p:nvSpPr>
          <p:cNvPr id="122" name="Google Shape;122;p5"/>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123" name="Google Shape;123;p5"/>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5</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6"/>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Data And Method</a:t>
            </a:r>
            <a:endParaRPr sz="3000">
              <a:solidFill>
                <a:schemeClr val="dk1"/>
              </a:solidFill>
              <a:latin typeface="Times New Roman"/>
              <a:ea typeface="Times New Roman"/>
              <a:cs typeface="Times New Roman"/>
              <a:sym typeface="Times New Roman"/>
            </a:endParaRPr>
          </a:p>
        </p:txBody>
      </p:sp>
      <p:sp>
        <p:nvSpPr>
          <p:cNvPr id="130" name="Google Shape;130;p6"/>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Dataset and Modelling Approach</a:t>
            </a:r>
            <a:endParaRPr i="0" sz="3000" u="none" cap="none" strike="noStrike">
              <a:solidFill>
                <a:schemeClr val="dk1"/>
              </a:solidFill>
              <a:latin typeface="Times New Roman"/>
              <a:ea typeface="Times New Roman"/>
              <a:cs typeface="Times New Roman"/>
              <a:sym typeface="Times New Roman"/>
            </a:endParaRPr>
          </a:p>
        </p:txBody>
      </p:sp>
      <p:sp>
        <p:nvSpPr>
          <p:cNvPr id="131" name="Google Shape;131;p6"/>
          <p:cNvSpPr/>
          <p:nvPr/>
        </p:nvSpPr>
        <p:spPr>
          <a:xfrm>
            <a:off x="548640" y="1371600"/>
            <a:ext cx="5394960" cy="4480560"/>
          </a:xfrm>
          <a:prstGeom prst="roundRect">
            <a:avLst>
              <a:gd fmla="val 1633"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32" name="Google Shape;132;p6"/>
          <p:cNvSpPr/>
          <p:nvPr/>
        </p:nvSpPr>
        <p:spPr>
          <a:xfrm>
            <a:off x="548640" y="1371600"/>
            <a:ext cx="5394960" cy="457200"/>
          </a:xfrm>
          <a:prstGeom prst="roundRect">
            <a:avLst>
              <a:gd fmla="val 16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33" name="Google Shape;133;p6"/>
          <p:cNvSpPr/>
          <p:nvPr/>
        </p:nvSpPr>
        <p:spPr>
          <a:xfrm>
            <a:off x="548640" y="1600200"/>
            <a:ext cx="5394960" cy="22860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34" name="Google Shape;134;p6"/>
          <p:cNvSpPr/>
          <p:nvPr/>
        </p:nvSpPr>
        <p:spPr>
          <a:xfrm>
            <a:off x="685800" y="1371600"/>
            <a:ext cx="51206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Dataset</a:t>
            </a:r>
            <a:endParaRPr i="0" sz="1300" u="none" cap="none" strike="noStrike">
              <a:solidFill>
                <a:schemeClr val="dk1"/>
              </a:solidFill>
              <a:latin typeface="Times New Roman"/>
              <a:ea typeface="Times New Roman"/>
              <a:cs typeface="Times New Roman"/>
              <a:sym typeface="Times New Roman"/>
            </a:endParaRPr>
          </a:p>
        </p:txBody>
      </p:sp>
      <p:sp>
        <p:nvSpPr>
          <p:cNvPr id="135" name="Google Shape;135;p6"/>
          <p:cNvSpPr/>
          <p:nvPr/>
        </p:nvSpPr>
        <p:spPr>
          <a:xfrm>
            <a:off x="713232" y="1938528"/>
            <a:ext cx="5065776" cy="379476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Kenya COVID-19 Rapid Response Phone Survey, Wave 4 (World Bank / KNBS / UNHCR)</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4,894 households nationally, phone-survey based</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47 counties, urban and rural strata</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Independently validated: this project's target correlates with the survey</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s separate Household Hunger Scale (HHS)</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 a monotonic, cross-checked signal</a:t>
            </a:r>
            <a:endParaRPr i="0" sz="1600" u="none" cap="none" strike="noStrike">
              <a:solidFill>
                <a:schemeClr val="dk1"/>
              </a:solidFill>
              <a:latin typeface="Times New Roman"/>
              <a:ea typeface="Times New Roman"/>
              <a:cs typeface="Times New Roman"/>
              <a:sym typeface="Times New Roman"/>
            </a:endParaRPr>
          </a:p>
        </p:txBody>
      </p:sp>
      <p:sp>
        <p:nvSpPr>
          <p:cNvPr id="136" name="Google Shape;136;p6"/>
          <p:cNvSpPr/>
          <p:nvPr/>
        </p:nvSpPr>
        <p:spPr>
          <a:xfrm>
            <a:off x="6217920" y="1371600"/>
            <a:ext cx="5394960" cy="4480560"/>
          </a:xfrm>
          <a:prstGeom prst="roundRect">
            <a:avLst>
              <a:gd fmla="val 1633"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37" name="Google Shape;137;p6"/>
          <p:cNvSpPr/>
          <p:nvPr/>
        </p:nvSpPr>
        <p:spPr>
          <a:xfrm>
            <a:off x="6217920" y="1371600"/>
            <a:ext cx="5394960" cy="457200"/>
          </a:xfrm>
          <a:prstGeom prst="roundRect">
            <a:avLst>
              <a:gd fmla="val 16000" name="adj"/>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38" name="Google Shape;138;p6"/>
          <p:cNvSpPr/>
          <p:nvPr/>
        </p:nvSpPr>
        <p:spPr>
          <a:xfrm>
            <a:off x="6217920" y="1600200"/>
            <a:ext cx="5394960" cy="228600"/>
          </a:xfrm>
          <a:prstGeom prst="rect">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39" name="Google Shape;139;p6"/>
          <p:cNvSpPr/>
          <p:nvPr/>
        </p:nvSpPr>
        <p:spPr>
          <a:xfrm>
            <a:off x="6355080" y="1371600"/>
            <a:ext cx="51206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Method</a:t>
            </a:r>
            <a:endParaRPr i="0" sz="1300" u="none" cap="none" strike="noStrike">
              <a:solidFill>
                <a:schemeClr val="dk1"/>
              </a:solidFill>
              <a:latin typeface="Times New Roman"/>
              <a:ea typeface="Times New Roman"/>
              <a:cs typeface="Times New Roman"/>
              <a:sym typeface="Times New Roman"/>
            </a:endParaRPr>
          </a:p>
        </p:txBody>
      </p:sp>
      <p:sp>
        <p:nvSpPr>
          <p:cNvPr id="140" name="Google Shape;140;p6"/>
          <p:cNvSpPr/>
          <p:nvPr/>
        </p:nvSpPr>
        <p:spPr>
          <a:xfrm>
            <a:off x="6382512" y="1938528"/>
            <a:ext cx="5065776" cy="379476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Baseline: majority-class prediction (always “food secure”)</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Candidates compared: XGBoost (default, class-balanced), XGBoost (RandomizedSearchCV-tuned), CatBoost (native categoricals)</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Class imbalance handled via sample weighting, not oversampling</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Leakage-safe county target encoding computed only on the training fold</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Selection metric: macro F1 on a held-out test set (979 households)</a:t>
            </a:r>
            <a:endParaRPr i="0" sz="1600" u="none" cap="none" strike="noStrike">
              <a:solidFill>
                <a:schemeClr val="dk1"/>
              </a:solidFill>
              <a:latin typeface="Times New Roman"/>
              <a:ea typeface="Times New Roman"/>
              <a:cs typeface="Times New Roman"/>
              <a:sym typeface="Times New Roman"/>
            </a:endParaRPr>
          </a:p>
        </p:txBody>
      </p:sp>
      <p:sp>
        <p:nvSpPr>
          <p:cNvPr id="141" name="Google Shape;141;p6"/>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142" name="Google Shape;142;p6"/>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6</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7"/>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Target Variable</a:t>
            </a:r>
            <a:endParaRPr sz="3000">
              <a:solidFill>
                <a:schemeClr val="dk1"/>
              </a:solidFill>
              <a:latin typeface="Times New Roman"/>
              <a:ea typeface="Times New Roman"/>
              <a:cs typeface="Times New Roman"/>
              <a:sym typeface="Times New Roman"/>
            </a:endParaRPr>
          </a:p>
        </p:txBody>
      </p:sp>
      <p:sp>
        <p:nvSpPr>
          <p:cNvPr id="149" name="Google Shape;149;p7"/>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A Standards-Based, 4-Class Food Security Score</a:t>
            </a:r>
            <a:endParaRPr i="0" sz="3000" u="none" cap="none" strike="noStrike">
              <a:solidFill>
                <a:schemeClr val="dk1"/>
              </a:solidFill>
              <a:latin typeface="Times New Roman"/>
              <a:ea typeface="Times New Roman"/>
              <a:cs typeface="Times New Roman"/>
              <a:sym typeface="Times New Roman"/>
            </a:endParaRPr>
          </a:p>
        </p:txBody>
      </p:sp>
      <p:sp>
        <p:nvSpPr>
          <p:cNvPr id="150" name="Google Shape;150;p7"/>
          <p:cNvSpPr/>
          <p:nvPr/>
        </p:nvSpPr>
        <p:spPr>
          <a:xfrm>
            <a:off x="548640" y="1188720"/>
            <a:ext cx="107899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1350"/>
              <a:buFont typeface="Calibri"/>
              <a:buNone/>
            </a:pPr>
            <a:r>
              <a:rPr i="0" lang="en-US" sz="1600" u="none" cap="none" strike="noStrike">
                <a:solidFill>
                  <a:schemeClr val="dk1"/>
                </a:solidFill>
                <a:latin typeface="Times New Roman"/>
                <a:ea typeface="Times New Roman"/>
                <a:cs typeface="Times New Roman"/>
                <a:sym typeface="Times New Roman"/>
              </a:rPr>
              <a:t>Built from the survey</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s food-worry, hunger, and meal-skipping questions into a severity score, then bucketed following HFIAS/CARI conventions.</a:t>
            </a:r>
            <a:endParaRPr i="0" sz="1600" u="none" cap="none" strike="noStrike">
              <a:solidFill>
                <a:schemeClr val="dk1"/>
              </a:solidFill>
              <a:latin typeface="Times New Roman"/>
              <a:ea typeface="Times New Roman"/>
              <a:cs typeface="Times New Roman"/>
              <a:sym typeface="Times New Roman"/>
            </a:endParaRPr>
          </a:p>
        </p:txBody>
      </p:sp>
      <p:sp>
        <p:nvSpPr>
          <p:cNvPr id="151" name="Google Shape;151;p7"/>
          <p:cNvSpPr/>
          <p:nvPr/>
        </p:nvSpPr>
        <p:spPr>
          <a:xfrm>
            <a:off x="548640" y="1828800"/>
            <a:ext cx="2606040" cy="1051560"/>
          </a:xfrm>
          <a:prstGeom prst="roundRect">
            <a:avLst>
              <a:gd fmla="val 6957" name="adj"/>
            </a:avLst>
          </a:prstGeom>
          <a:solidFill>
            <a:srgbClr val="3D89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52" name="Google Shape;152;p7"/>
          <p:cNvSpPr/>
          <p:nvPr/>
        </p:nvSpPr>
        <p:spPr>
          <a:xfrm>
            <a:off x="640080" y="1920240"/>
            <a:ext cx="2423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Times New Roman"/>
                <a:ea typeface="Times New Roman"/>
                <a:cs typeface="Times New Roman"/>
                <a:sym typeface="Times New Roman"/>
              </a:rPr>
              <a:t>Food Secure</a:t>
            </a:r>
            <a:endParaRPr i="0" sz="1400" u="none" cap="none" strike="noStrike">
              <a:solidFill>
                <a:schemeClr val="dk1"/>
              </a:solidFill>
              <a:latin typeface="Times New Roman"/>
              <a:ea typeface="Times New Roman"/>
              <a:cs typeface="Times New Roman"/>
              <a:sym typeface="Times New Roman"/>
            </a:endParaRPr>
          </a:p>
        </p:txBody>
      </p:sp>
      <p:sp>
        <p:nvSpPr>
          <p:cNvPr id="153" name="Google Shape;153;p7"/>
          <p:cNvSpPr/>
          <p:nvPr/>
        </p:nvSpPr>
        <p:spPr>
          <a:xfrm>
            <a:off x="640080" y="2423160"/>
            <a:ext cx="2423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i="0" lang="en-US" sz="1100" u="none" cap="none" strike="noStrike">
                <a:solidFill>
                  <a:srgbClr val="FFFFFF"/>
                </a:solidFill>
                <a:latin typeface="Times New Roman"/>
                <a:ea typeface="Times New Roman"/>
                <a:cs typeface="Times New Roman"/>
                <a:sym typeface="Times New Roman"/>
              </a:rPr>
              <a:t>score = 0</a:t>
            </a:r>
            <a:endParaRPr i="0" sz="1100" u="none" cap="none" strike="noStrike">
              <a:solidFill>
                <a:schemeClr val="dk1"/>
              </a:solidFill>
              <a:latin typeface="Times New Roman"/>
              <a:ea typeface="Times New Roman"/>
              <a:cs typeface="Times New Roman"/>
              <a:sym typeface="Times New Roman"/>
            </a:endParaRPr>
          </a:p>
        </p:txBody>
      </p:sp>
      <p:sp>
        <p:nvSpPr>
          <p:cNvPr id="154" name="Google Shape;154;p7"/>
          <p:cNvSpPr/>
          <p:nvPr/>
        </p:nvSpPr>
        <p:spPr>
          <a:xfrm>
            <a:off x="3383280" y="1828800"/>
            <a:ext cx="2606040" cy="1051560"/>
          </a:xfrm>
          <a:prstGeom prst="roundRect">
            <a:avLst>
              <a:gd fmla="val 6957" name="adj"/>
            </a:avLst>
          </a:prstGeom>
          <a:solidFill>
            <a:srgbClr val="E8B9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55" name="Google Shape;155;p7"/>
          <p:cNvSpPr/>
          <p:nvPr/>
        </p:nvSpPr>
        <p:spPr>
          <a:xfrm>
            <a:off x="3474720" y="1920240"/>
            <a:ext cx="2423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Times New Roman"/>
                <a:ea typeface="Times New Roman"/>
                <a:cs typeface="Times New Roman"/>
                <a:sym typeface="Times New Roman"/>
              </a:rPr>
              <a:t>Mildly Insecure</a:t>
            </a:r>
            <a:endParaRPr i="0" sz="1400" u="none" cap="none" strike="noStrike">
              <a:solidFill>
                <a:schemeClr val="dk1"/>
              </a:solidFill>
              <a:latin typeface="Times New Roman"/>
              <a:ea typeface="Times New Roman"/>
              <a:cs typeface="Times New Roman"/>
              <a:sym typeface="Times New Roman"/>
            </a:endParaRPr>
          </a:p>
        </p:txBody>
      </p:sp>
      <p:sp>
        <p:nvSpPr>
          <p:cNvPr id="156" name="Google Shape;156;p7"/>
          <p:cNvSpPr/>
          <p:nvPr/>
        </p:nvSpPr>
        <p:spPr>
          <a:xfrm>
            <a:off x="3474720" y="2423160"/>
            <a:ext cx="2423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i="0" lang="en-US" sz="1100" u="none" cap="none" strike="noStrike">
                <a:solidFill>
                  <a:srgbClr val="FFFFFF"/>
                </a:solidFill>
                <a:latin typeface="Times New Roman"/>
                <a:ea typeface="Times New Roman"/>
                <a:cs typeface="Times New Roman"/>
                <a:sym typeface="Times New Roman"/>
              </a:rPr>
              <a:t>score = 1</a:t>
            </a:r>
            <a:endParaRPr i="0" sz="1100" u="none" cap="none" strike="noStrike">
              <a:solidFill>
                <a:schemeClr val="dk1"/>
              </a:solidFill>
              <a:latin typeface="Times New Roman"/>
              <a:ea typeface="Times New Roman"/>
              <a:cs typeface="Times New Roman"/>
              <a:sym typeface="Times New Roman"/>
            </a:endParaRPr>
          </a:p>
        </p:txBody>
      </p:sp>
      <p:sp>
        <p:nvSpPr>
          <p:cNvPr id="157" name="Google Shape;157;p7"/>
          <p:cNvSpPr/>
          <p:nvPr/>
        </p:nvSpPr>
        <p:spPr>
          <a:xfrm>
            <a:off x="6217920" y="1828800"/>
            <a:ext cx="2606040" cy="1051560"/>
          </a:xfrm>
          <a:prstGeom prst="roundRect">
            <a:avLst>
              <a:gd fmla="val 6957" name="adj"/>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58" name="Google Shape;158;p7"/>
          <p:cNvSpPr/>
          <p:nvPr/>
        </p:nvSpPr>
        <p:spPr>
          <a:xfrm>
            <a:off x="6309360" y="1920240"/>
            <a:ext cx="2423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Times New Roman"/>
                <a:ea typeface="Times New Roman"/>
                <a:cs typeface="Times New Roman"/>
                <a:sym typeface="Times New Roman"/>
              </a:rPr>
              <a:t>Moderately Insecure</a:t>
            </a:r>
            <a:endParaRPr i="0" sz="1400" u="none" cap="none" strike="noStrike">
              <a:solidFill>
                <a:schemeClr val="dk1"/>
              </a:solidFill>
              <a:latin typeface="Times New Roman"/>
              <a:ea typeface="Times New Roman"/>
              <a:cs typeface="Times New Roman"/>
              <a:sym typeface="Times New Roman"/>
            </a:endParaRPr>
          </a:p>
        </p:txBody>
      </p:sp>
      <p:sp>
        <p:nvSpPr>
          <p:cNvPr id="159" name="Google Shape;159;p7"/>
          <p:cNvSpPr/>
          <p:nvPr/>
        </p:nvSpPr>
        <p:spPr>
          <a:xfrm>
            <a:off x="6309360" y="2423160"/>
            <a:ext cx="2423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i="0" lang="en-US" sz="1100" u="none" cap="none" strike="noStrike">
                <a:solidFill>
                  <a:srgbClr val="FFFFFF"/>
                </a:solidFill>
                <a:latin typeface="Times New Roman"/>
                <a:ea typeface="Times New Roman"/>
                <a:cs typeface="Times New Roman"/>
                <a:sym typeface="Times New Roman"/>
              </a:rPr>
              <a:t>score 2–3</a:t>
            </a:r>
            <a:endParaRPr i="0" sz="1100" u="none" cap="none" strike="noStrike">
              <a:solidFill>
                <a:schemeClr val="dk1"/>
              </a:solidFill>
              <a:latin typeface="Times New Roman"/>
              <a:ea typeface="Times New Roman"/>
              <a:cs typeface="Times New Roman"/>
              <a:sym typeface="Times New Roman"/>
            </a:endParaRPr>
          </a:p>
        </p:txBody>
      </p:sp>
      <p:sp>
        <p:nvSpPr>
          <p:cNvPr id="160" name="Google Shape;160;p7"/>
          <p:cNvSpPr/>
          <p:nvPr/>
        </p:nvSpPr>
        <p:spPr>
          <a:xfrm>
            <a:off x="9052560" y="1828800"/>
            <a:ext cx="2606040" cy="1051560"/>
          </a:xfrm>
          <a:prstGeom prst="roundRect">
            <a:avLst>
              <a:gd fmla="val 6957"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61" name="Google Shape;161;p7"/>
          <p:cNvSpPr/>
          <p:nvPr/>
        </p:nvSpPr>
        <p:spPr>
          <a:xfrm>
            <a:off x="9144000" y="1920240"/>
            <a:ext cx="242316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Times New Roman"/>
                <a:ea typeface="Times New Roman"/>
                <a:cs typeface="Times New Roman"/>
                <a:sym typeface="Times New Roman"/>
              </a:rPr>
              <a:t>Severely Insecure</a:t>
            </a:r>
            <a:endParaRPr i="0" sz="1400" u="none" cap="none" strike="noStrike">
              <a:solidFill>
                <a:schemeClr val="dk1"/>
              </a:solidFill>
              <a:latin typeface="Times New Roman"/>
              <a:ea typeface="Times New Roman"/>
              <a:cs typeface="Times New Roman"/>
              <a:sym typeface="Times New Roman"/>
            </a:endParaRPr>
          </a:p>
        </p:txBody>
      </p:sp>
      <p:sp>
        <p:nvSpPr>
          <p:cNvPr id="162" name="Google Shape;162;p7"/>
          <p:cNvSpPr/>
          <p:nvPr/>
        </p:nvSpPr>
        <p:spPr>
          <a:xfrm>
            <a:off x="9144000" y="2423160"/>
            <a:ext cx="24231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i="0" lang="en-US" sz="1100" u="none" cap="none" strike="noStrike">
                <a:solidFill>
                  <a:srgbClr val="FFFFFF"/>
                </a:solidFill>
                <a:latin typeface="Times New Roman"/>
                <a:ea typeface="Times New Roman"/>
                <a:cs typeface="Times New Roman"/>
                <a:sym typeface="Times New Roman"/>
              </a:rPr>
              <a:t>score &gt; 3</a:t>
            </a:r>
            <a:endParaRPr i="0" sz="1100" u="none" cap="none" strike="noStrike">
              <a:solidFill>
                <a:schemeClr val="dk1"/>
              </a:solidFill>
              <a:latin typeface="Times New Roman"/>
              <a:ea typeface="Times New Roman"/>
              <a:cs typeface="Times New Roman"/>
              <a:sym typeface="Times New Roman"/>
            </a:endParaRPr>
          </a:p>
        </p:txBody>
      </p:sp>
      <p:sp>
        <p:nvSpPr>
          <p:cNvPr id="163" name="Google Shape;163;p7"/>
          <p:cNvSpPr/>
          <p:nvPr/>
        </p:nvSpPr>
        <p:spPr>
          <a:xfrm>
            <a:off x="548640" y="3063240"/>
            <a:ext cx="5394960" cy="2880360"/>
          </a:xfrm>
          <a:prstGeom prst="roundRect">
            <a:avLst>
              <a:gd fmla="val 2540"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64" name="Google Shape;164;p7"/>
          <p:cNvSpPr/>
          <p:nvPr/>
        </p:nvSpPr>
        <p:spPr>
          <a:xfrm>
            <a:off x="548640" y="3063240"/>
            <a:ext cx="5394960" cy="457200"/>
          </a:xfrm>
          <a:prstGeom prst="roundRect">
            <a:avLst>
              <a:gd fmla="val 16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65" name="Google Shape;165;p7"/>
          <p:cNvSpPr/>
          <p:nvPr/>
        </p:nvSpPr>
        <p:spPr>
          <a:xfrm>
            <a:off x="548640" y="3291840"/>
            <a:ext cx="5394960" cy="22860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66" name="Google Shape;166;p7"/>
          <p:cNvSpPr/>
          <p:nvPr/>
        </p:nvSpPr>
        <p:spPr>
          <a:xfrm>
            <a:off x="685800" y="3063240"/>
            <a:ext cx="51206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Why bucket it this way</a:t>
            </a:r>
            <a:endParaRPr i="0" sz="1300" u="none" cap="none" strike="noStrike">
              <a:solidFill>
                <a:schemeClr val="dk1"/>
              </a:solidFill>
              <a:latin typeface="Times New Roman"/>
              <a:ea typeface="Times New Roman"/>
              <a:cs typeface="Times New Roman"/>
              <a:sym typeface="Times New Roman"/>
            </a:endParaRPr>
          </a:p>
        </p:txBody>
      </p:sp>
      <p:sp>
        <p:nvSpPr>
          <p:cNvPr id="167" name="Google Shape;167;p7"/>
          <p:cNvSpPr/>
          <p:nvPr/>
        </p:nvSpPr>
        <p:spPr>
          <a:xfrm>
            <a:off x="713232" y="3630168"/>
            <a:ext cx="5065776" cy="219456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Mirrors the internationally recognised HFIAS/CARI approach used by FAO and WFP food-security classifications</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Keeps the model</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s output interpretable to non-technical stakeholders: a caseworker can act on “severely insecure” without needing to know the underlying score</a:t>
            </a:r>
            <a:endParaRPr i="0" sz="1600" u="none" cap="none" strike="noStrike">
              <a:solidFill>
                <a:schemeClr val="dk1"/>
              </a:solidFill>
              <a:latin typeface="Times New Roman"/>
              <a:ea typeface="Times New Roman"/>
              <a:cs typeface="Times New Roman"/>
              <a:sym typeface="Times New Roman"/>
            </a:endParaRPr>
          </a:p>
        </p:txBody>
      </p:sp>
      <p:sp>
        <p:nvSpPr>
          <p:cNvPr id="168" name="Google Shape;168;p7"/>
          <p:cNvSpPr/>
          <p:nvPr/>
        </p:nvSpPr>
        <p:spPr>
          <a:xfrm>
            <a:off x="6217920" y="3063240"/>
            <a:ext cx="5394960" cy="2880360"/>
          </a:xfrm>
          <a:prstGeom prst="roundRect">
            <a:avLst>
              <a:gd fmla="val 2540"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69" name="Google Shape;169;p7"/>
          <p:cNvSpPr/>
          <p:nvPr/>
        </p:nvSpPr>
        <p:spPr>
          <a:xfrm>
            <a:off x="6217920" y="3063240"/>
            <a:ext cx="5394960" cy="457200"/>
          </a:xfrm>
          <a:prstGeom prst="roundRect">
            <a:avLst>
              <a:gd fmla="val 16000" name="adj"/>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70" name="Google Shape;170;p7"/>
          <p:cNvSpPr/>
          <p:nvPr/>
        </p:nvSpPr>
        <p:spPr>
          <a:xfrm>
            <a:off x="6217920" y="3291840"/>
            <a:ext cx="5394960" cy="228600"/>
          </a:xfrm>
          <a:prstGeom prst="rect">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71" name="Google Shape;171;p7"/>
          <p:cNvSpPr/>
          <p:nvPr/>
        </p:nvSpPr>
        <p:spPr>
          <a:xfrm>
            <a:off x="6355080" y="3063240"/>
            <a:ext cx="51206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Independently validated</a:t>
            </a:r>
            <a:endParaRPr i="0" sz="1300" u="none" cap="none" strike="noStrike">
              <a:solidFill>
                <a:schemeClr val="dk1"/>
              </a:solidFill>
              <a:latin typeface="Times New Roman"/>
              <a:ea typeface="Times New Roman"/>
              <a:cs typeface="Times New Roman"/>
              <a:sym typeface="Times New Roman"/>
            </a:endParaRPr>
          </a:p>
        </p:txBody>
      </p:sp>
      <p:sp>
        <p:nvSpPr>
          <p:cNvPr id="172" name="Google Shape;172;p7"/>
          <p:cNvSpPr/>
          <p:nvPr/>
        </p:nvSpPr>
        <p:spPr>
          <a:xfrm>
            <a:off x="6382512" y="3630168"/>
            <a:ext cx="5065776" cy="219456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This target correlates with the survey's separate Household Hunger Scale (HHS) question set</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Mean HHS score rises monotonically across the four buckets</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 a cross-checked signal, not a single noisy question</a:t>
            </a:r>
            <a:endParaRPr i="0" sz="1600" u="none" cap="none" strike="noStrike">
              <a:solidFill>
                <a:schemeClr val="dk1"/>
              </a:solidFill>
              <a:latin typeface="Times New Roman"/>
              <a:ea typeface="Times New Roman"/>
              <a:cs typeface="Times New Roman"/>
              <a:sym typeface="Times New Roman"/>
            </a:endParaRPr>
          </a:p>
        </p:txBody>
      </p:sp>
      <p:sp>
        <p:nvSpPr>
          <p:cNvPr id="173" name="Google Shape;173;p7"/>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174" name="Google Shape;174;p7"/>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7</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 name="Shape 179"/>
        <p:cNvGrpSpPr/>
        <p:nvPr/>
      </p:nvGrpSpPr>
      <p:grpSpPr>
        <a:xfrm>
          <a:off x="0" y="0"/>
          <a:ext cx="0" cy="0"/>
          <a:chOff x="0" y="0"/>
          <a:chExt cx="0" cy="0"/>
        </a:xfrm>
      </p:grpSpPr>
      <p:sp>
        <p:nvSpPr>
          <p:cNvPr id="180" name="Google Shape;180;p8"/>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Exploratory Finding</a:t>
            </a:r>
            <a:endParaRPr sz="3000">
              <a:solidFill>
                <a:schemeClr val="dk1"/>
              </a:solidFill>
              <a:latin typeface="Times New Roman"/>
              <a:ea typeface="Times New Roman"/>
              <a:cs typeface="Times New Roman"/>
              <a:sym typeface="Times New Roman"/>
            </a:endParaRPr>
          </a:p>
        </p:txBody>
      </p:sp>
      <p:sp>
        <p:nvSpPr>
          <p:cNvPr id="181" name="Google Shape;181;p8"/>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Class Imbalance Shapes Every Decision After This</a:t>
            </a:r>
            <a:endParaRPr i="0" sz="3000" u="none" cap="none" strike="noStrike">
              <a:solidFill>
                <a:schemeClr val="dk1"/>
              </a:solidFill>
              <a:latin typeface="Times New Roman"/>
              <a:ea typeface="Times New Roman"/>
              <a:cs typeface="Times New Roman"/>
              <a:sym typeface="Times New Roman"/>
            </a:endParaRPr>
          </a:p>
        </p:txBody>
      </p:sp>
      <p:pic>
        <p:nvPicPr>
          <p:cNvPr descr="/home/claude/charts/target_distribution.png" id="182" name="Google Shape;182;p8"/>
          <p:cNvPicPr preferRelativeResize="0"/>
          <p:nvPr/>
        </p:nvPicPr>
        <p:blipFill rotWithShape="1">
          <a:blip r:embed="rId3">
            <a:alphaModFix/>
          </a:blip>
          <a:srcRect b="0" l="0" r="0" t="0"/>
          <a:stretch/>
        </p:blipFill>
        <p:spPr>
          <a:xfrm>
            <a:off x="457200" y="1234440"/>
            <a:ext cx="6675120" cy="4480560"/>
          </a:xfrm>
          <a:prstGeom prst="rect">
            <a:avLst/>
          </a:prstGeom>
          <a:noFill/>
          <a:ln>
            <a:noFill/>
          </a:ln>
        </p:spPr>
      </p:pic>
      <p:sp>
        <p:nvSpPr>
          <p:cNvPr id="183" name="Google Shape;183;p8"/>
          <p:cNvSpPr/>
          <p:nvPr/>
        </p:nvSpPr>
        <p:spPr>
          <a:xfrm>
            <a:off x="7360920" y="1371600"/>
            <a:ext cx="4297680" cy="4343400"/>
          </a:xfrm>
          <a:prstGeom prst="roundRect">
            <a:avLst>
              <a:gd fmla="val 1702"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7360920" y="1371600"/>
            <a:ext cx="4297680" cy="457200"/>
          </a:xfrm>
          <a:prstGeom prst="roundRect">
            <a:avLst>
              <a:gd fmla="val 16000"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7360920" y="1600200"/>
            <a:ext cx="4297680" cy="228600"/>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a:off x="7498080" y="1371600"/>
            <a:ext cx="40233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Why this matters</a:t>
            </a:r>
            <a:endParaRPr i="0" sz="1300" u="none" cap="none" strike="noStrike">
              <a:solidFill>
                <a:schemeClr val="dk1"/>
              </a:solidFill>
              <a:latin typeface="Times New Roman"/>
              <a:ea typeface="Times New Roman"/>
              <a:cs typeface="Times New Roman"/>
              <a:sym typeface="Times New Roman"/>
            </a:endParaRPr>
          </a:p>
        </p:txBody>
      </p:sp>
      <p:sp>
        <p:nvSpPr>
          <p:cNvPr id="187" name="Google Shape;187;p8"/>
          <p:cNvSpPr/>
          <p:nvPr/>
        </p:nvSpPr>
        <p:spPr>
          <a:xfrm>
            <a:off x="7525512" y="1938528"/>
            <a:ext cx="3968496" cy="365760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Half of all households are food secure</a:t>
            </a:r>
            <a:r>
              <a:rPr lang="en-US" sz="1600">
                <a:solidFill>
                  <a:schemeClr val="dk1"/>
                </a:solidFill>
                <a:latin typeface="Times New Roman"/>
                <a:ea typeface="Times New Roman"/>
                <a:cs typeface="Times New Roman"/>
                <a:sym typeface="Times New Roman"/>
              </a:rPr>
              <a:t>, </a:t>
            </a:r>
            <a:r>
              <a:rPr i="0" lang="en-US" sz="1600" u="none" cap="none" strike="noStrike">
                <a:solidFill>
                  <a:schemeClr val="dk1"/>
                </a:solidFill>
                <a:latin typeface="Times New Roman"/>
                <a:ea typeface="Times New Roman"/>
                <a:cs typeface="Times New Roman"/>
                <a:sym typeface="Times New Roman"/>
              </a:rPr>
              <a:t>a naive model could hit 50% accuracy by predicting one class every time</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The three insecure classes are each minorities (12–24%)</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Accuracy alone would hide poor performance on exactly the households a targeting tool exists to find</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We use macro F1 as the primary metric and class-balanced sample weighting during training to counteract this</a:t>
            </a:r>
            <a:endParaRPr i="0" sz="1600" u="none" cap="none" strike="noStrike">
              <a:solidFill>
                <a:schemeClr val="dk1"/>
              </a:solidFill>
              <a:latin typeface="Times New Roman"/>
              <a:ea typeface="Times New Roman"/>
              <a:cs typeface="Times New Roman"/>
              <a:sym typeface="Times New Roman"/>
            </a:endParaRPr>
          </a:p>
        </p:txBody>
      </p:sp>
      <p:sp>
        <p:nvSpPr>
          <p:cNvPr id="188" name="Google Shape;188;p8"/>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b="0" i="0" lang="en-US" sz="900" u="none" cap="none" strike="noStrike">
                <a:solidFill>
                  <a:srgbClr val="9AA0B8"/>
                </a:solidFill>
                <a:latin typeface="Calibri"/>
                <a:ea typeface="Calibri"/>
                <a:cs typeface="Calibri"/>
                <a:sym typeface="Calibri"/>
              </a:rPr>
              <a:t>Ngao Labs Capstone · Group 10 — Food Security Screening</a:t>
            </a:r>
            <a:endParaRPr b="0" i="0" sz="900" u="none" cap="none" strike="noStrike">
              <a:solidFill>
                <a:schemeClr val="dk1"/>
              </a:solidFill>
              <a:latin typeface="Calibri"/>
              <a:ea typeface="Calibri"/>
              <a:cs typeface="Calibri"/>
              <a:sym typeface="Calibri"/>
            </a:endParaRPr>
          </a:p>
        </p:txBody>
      </p:sp>
      <p:sp>
        <p:nvSpPr>
          <p:cNvPr id="189" name="Google Shape;189;p8"/>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b="0" i="0" lang="en-US" sz="900" u="none" cap="none" strike="noStrike">
                <a:solidFill>
                  <a:srgbClr val="9AA0B8"/>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9"/>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Baseline Rule</a:t>
            </a:r>
            <a:endParaRPr sz="3000">
              <a:solidFill>
                <a:schemeClr val="dk1"/>
              </a:solidFill>
              <a:latin typeface="Times New Roman"/>
              <a:ea typeface="Times New Roman"/>
              <a:cs typeface="Times New Roman"/>
              <a:sym typeface="Times New Roman"/>
            </a:endParaRPr>
          </a:p>
        </p:txBody>
      </p:sp>
      <p:sp>
        <p:nvSpPr>
          <p:cNvPr id="196" name="Google Shape;196;p9"/>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Every Model Must Beat Doing Nothing</a:t>
            </a:r>
            <a:endParaRPr i="0" sz="3000" u="none" cap="none" strike="noStrike">
              <a:solidFill>
                <a:schemeClr val="dk1"/>
              </a:solidFill>
              <a:latin typeface="Times New Roman"/>
              <a:ea typeface="Times New Roman"/>
              <a:cs typeface="Times New Roman"/>
              <a:sym typeface="Times New Roman"/>
            </a:endParaRPr>
          </a:p>
        </p:txBody>
      </p:sp>
      <p:sp>
        <p:nvSpPr>
          <p:cNvPr id="197" name="Google Shape;197;p9"/>
          <p:cNvSpPr/>
          <p:nvPr/>
        </p:nvSpPr>
        <p:spPr>
          <a:xfrm>
            <a:off x="548640" y="1188720"/>
            <a:ext cx="107899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1400"/>
              <a:buFont typeface="Calibri"/>
              <a:buNone/>
            </a:pPr>
            <a:r>
              <a:rPr i="0" lang="en-US" sz="1600" u="none" cap="none" strike="noStrike">
                <a:solidFill>
                  <a:schemeClr val="dk1"/>
                </a:solidFill>
                <a:latin typeface="Times New Roman"/>
                <a:ea typeface="Times New Roman"/>
                <a:cs typeface="Times New Roman"/>
                <a:sym typeface="Times New Roman"/>
              </a:rPr>
              <a:t>The baseline: always predict the majority class (“food secure”) for every household.</a:t>
            </a:r>
            <a:endParaRPr i="0" sz="1600" u="none" cap="none" strike="noStrike">
              <a:solidFill>
                <a:schemeClr val="dk1"/>
              </a:solidFill>
              <a:latin typeface="Times New Roman"/>
              <a:ea typeface="Times New Roman"/>
              <a:cs typeface="Times New Roman"/>
              <a:sym typeface="Times New Roman"/>
            </a:endParaRPr>
          </a:p>
        </p:txBody>
      </p:sp>
      <p:sp>
        <p:nvSpPr>
          <p:cNvPr id="198" name="Google Shape;198;p9"/>
          <p:cNvSpPr/>
          <p:nvPr/>
        </p:nvSpPr>
        <p:spPr>
          <a:xfrm>
            <a:off x="548640" y="1920240"/>
            <a:ext cx="3383280" cy="2011680"/>
          </a:xfrm>
          <a:prstGeom prst="roundRect">
            <a:avLst>
              <a:gd fmla="val 3636"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99" name="Google Shape;199;p9"/>
          <p:cNvSpPr/>
          <p:nvPr/>
        </p:nvSpPr>
        <p:spPr>
          <a:xfrm>
            <a:off x="685800" y="2029968"/>
            <a:ext cx="3108960" cy="11064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3000"/>
              <a:buFont typeface="Cambria"/>
              <a:buNone/>
            </a:pPr>
            <a:r>
              <a:rPr b="1" i="0" lang="en-US" sz="3000" u="none" cap="none" strike="noStrike">
                <a:solidFill>
                  <a:srgbClr val="5A5F73"/>
                </a:solidFill>
                <a:latin typeface="Times New Roman"/>
                <a:ea typeface="Times New Roman"/>
                <a:cs typeface="Times New Roman"/>
                <a:sym typeface="Times New Roman"/>
              </a:rPr>
              <a:t>0.333</a:t>
            </a:r>
            <a:endParaRPr i="0" sz="3000" u="none" cap="none" strike="noStrike">
              <a:solidFill>
                <a:schemeClr val="dk1"/>
              </a:solidFill>
              <a:latin typeface="Times New Roman"/>
              <a:ea typeface="Times New Roman"/>
              <a:cs typeface="Times New Roman"/>
              <a:sym typeface="Times New Roman"/>
            </a:endParaRPr>
          </a:p>
        </p:txBody>
      </p:sp>
      <p:sp>
        <p:nvSpPr>
          <p:cNvPr id="200" name="Google Shape;200;p9"/>
          <p:cNvSpPr/>
          <p:nvPr/>
        </p:nvSpPr>
        <p:spPr>
          <a:xfrm>
            <a:off x="685800" y="3127248"/>
            <a:ext cx="3108960" cy="76443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5F73"/>
              </a:buClr>
              <a:buSzPts val="1100"/>
              <a:buFont typeface="Calibri"/>
              <a:buNone/>
            </a:pPr>
            <a:r>
              <a:rPr i="0" lang="en-US" sz="1100" u="none" cap="none" strike="noStrike">
                <a:solidFill>
                  <a:srgbClr val="5A5F73"/>
                </a:solidFill>
                <a:latin typeface="Times New Roman"/>
                <a:ea typeface="Times New Roman"/>
                <a:cs typeface="Times New Roman"/>
                <a:sym typeface="Times New Roman"/>
              </a:rPr>
              <a:t>Baseline Weighted F1</a:t>
            </a:r>
            <a:endParaRPr i="0" sz="1100" u="none" cap="none" strike="noStrike">
              <a:solidFill>
                <a:schemeClr val="dk1"/>
              </a:solidFill>
              <a:latin typeface="Times New Roman"/>
              <a:ea typeface="Times New Roman"/>
              <a:cs typeface="Times New Roman"/>
              <a:sym typeface="Times New Roman"/>
            </a:endParaRPr>
          </a:p>
        </p:txBody>
      </p:sp>
      <p:sp>
        <p:nvSpPr>
          <p:cNvPr id="201" name="Google Shape;201;p9"/>
          <p:cNvSpPr/>
          <p:nvPr/>
        </p:nvSpPr>
        <p:spPr>
          <a:xfrm>
            <a:off x="4114800" y="1920240"/>
            <a:ext cx="3383280" cy="2011680"/>
          </a:xfrm>
          <a:prstGeom prst="roundRect">
            <a:avLst>
              <a:gd fmla="val 3636"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02" name="Google Shape;202;p9"/>
          <p:cNvSpPr/>
          <p:nvPr/>
        </p:nvSpPr>
        <p:spPr>
          <a:xfrm>
            <a:off x="4251960" y="2029968"/>
            <a:ext cx="3108960" cy="11064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3000"/>
              <a:buFont typeface="Cambria"/>
              <a:buNone/>
            </a:pPr>
            <a:r>
              <a:rPr b="1" i="0" lang="en-US" sz="3000" u="none" cap="none" strike="noStrike">
                <a:solidFill>
                  <a:srgbClr val="5A5F73"/>
                </a:solidFill>
                <a:latin typeface="Times New Roman"/>
                <a:ea typeface="Times New Roman"/>
                <a:cs typeface="Times New Roman"/>
                <a:sym typeface="Times New Roman"/>
              </a:rPr>
              <a:t>0.167</a:t>
            </a:r>
            <a:endParaRPr i="0" sz="3000" u="none" cap="none" strike="noStrike">
              <a:solidFill>
                <a:schemeClr val="dk1"/>
              </a:solidFill>
              <a:latin typeface="Times New Roman"/>
              <a:ea typeface="Times New Roman"/>
              <a:cs typeface="Times New Roman"/>
              <a:sym typeface="Times New Roman"/>
            </a:endParaRPr>
          </a:p>
        </p:txBody>
      </p:sp>
      <p:sp>
        <p:nvSpPr>
          <p:cNvPr id="203" name="Google Shape;203;p9"/>
          <p:cNvSpPr/>
          <p:nvPr/>
        </p:nvSpPr>
        <p:spPr>
          <a:xfrm>
            <a:off x="4251960" y="3127248"/>
            <a:ext cx="3108960" cy="76443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5F73"/>
              </a:buClr>
              <a:buSzPts val="1100"/>
              <a:buFont typeface="Calibri"/>
              <a:buNone/>
            </a:pPr>
            <a:r>
              <a:rPr i="0" lang="en-US" sz="1100" u="none" cap="none" strike="noStrike">
                <a:solidFill>
                  <a:srgbClr val="5A5F73"/>
                </a:solidFill>
                <a:latin typeface="Times New Roman"/>
                <a:ea typeface="Times New Roman"/>
                <a:cs typeface="Times New Roman"/>
                <a:sym typeface="Times New Roman"/>
              </a:rPr>
              <a:t>Baseline Macro F1</a:t>
            </a:r>
            <a:endParaRPr i="0" sz="1100" u="none" cap="none" strike="noStrike">
              <a:solidFill>
                <a:schemeClr val="dk1"/>
              </a:solidFill>
              <a:latin typeface="Times New Roman"/>
              <a:ea typeface="Times New Roman"/>
              <a:cs typeface="Times New Roman"/>
              <a:sym typeface="Times New Roman"/>
            </a:endParaRPr>
          </a:p>
        </p:txBody>
      </p:sp>
      <p:sp>
        <p:nvSpPr>
          <p:cNvPr id="204" name="Google Shape;204;p9"/>
          <p:cNvSpPr/>
          <p:nvPr/>
        </p:nvSpPr>
        <p:spPr>
          <a:xfrm>
            <a:off x="7680960" y="1920240"/>
            <a:ext cx="3931920" cy="2011680"/>
          </a:xfrm>
          <a:prstGeom prst="roundRect">
            <a:avLst>
              <a:gd fmla="val 3636"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05" name="Google Shape;205;p9"/>
          <p:cNvSpPr/>
          <p:nvPr/>
        </p:nvSpPr>
        <p:spPr>
          <a:xfrm>
            <a:off x="7818120" y="2029968"/>
            <a:ext cx="3657600" cy="11064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979</a:t>
            </a:r>
            <a:endParaRPr i="0" sz="3000" u="none" cap="none" strike="noStrike">
              <a:solidFill>
                <a:schemeClr val="dk1"/>
              </a:solidFill>
              <a:latin typeface="Times New Roman"/>
              <a:ea typeface="Times New Roman"/>
              <a:cs typeface="Times New Roman"/>
              <a:sym typeface="Times New Roman"/>
            </a:endParaRPr>
          </a:p>
        </p:txBody>
      </p:sp>
      <p:sp>
        <p:nvSpPr>
          <p:cNvPr id="206" name="Google Shape;206;p9"/>
          <p:cNvSpPr/>
          <p:nvPr/>
        </p:nvSpPr>
        <p:spPr>
          <a:xfrm>
            <a:off x="7818120" y="3127248"/>
            <a:ext cx="3657600" cy="76443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5F73"/>
              </a:buClr>
              <a:buSzPts val="1100"/>
              <a:buFont typeface="Calibri"/>
              <a:buNone/>
            </a:pPr>
            <a:r>
              <a:rPr i="0" lang="en-US" sz="1100" u="none" cap="none" strike="noStrike">
                <a:solidFill>
                  <a:srgbClr val="5A5F73"/>
                </a:solidFill>
                <a:latin typeface="Times New Roman"/>
                <a:ea typeface="Times New Roman"/>
                <a:cs typeface="Times New Roman"/>
                <a:sym typeface="Times New Roman"/>
              </a:rPr>
              <a:t>Held-out test households</a:t>
            </a:r>
            <a:endParaRPr i="0" sz="11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5A5F73"/>
              </a:buClr>
              <a:buSzPts val="1100"/>
              <a:buFont typeface="Calibri"/>
              <a:buNone/>
            </a:pPr>
            <a:r>
              <a:rPr i="0" lang="en-US" sz="1100" u="none" cap="none" strike="noStrike">
                <a:solidFill>
                  <a:srgbClr val="5A5F73"/>
                </a:solidFill>
                <a:latin typeface="Times New Roman"/>
                <a:ea typeface="Times New Roman"/>
                <a:cs typeface="Times New Roman"/>
                <a:sym typeface="Times New Roman"/>
              </a:rPr>
              <a:t>(20% split, stratified)</a:t>
            </a:r>
            <a:endParaRPr i="0" sz="1100" u="none" cap="none" strike="noStrike">
              <a:solidFill>
                <a:schemeClr val="dk1"/>
              </a:solidFill>
              <a:latin typeface="Times New Roman"/>
              <a:ea typeface="Times New Roman"/>
              <a:cs typeface="Times New Roman"/>
              <a:sym typeface="Times New Roman"/>
            </a:endParaRPr>
          </a:p>
        </p:txBody>
      </p:sp>
      <p:sp>
        <p:nvSpPr>
          <p:cNvPr id="207" name="Google Shape;207;p9"/>
          <p:cNvSpPr/>
          <p:nvPr/>
        </p:nvSpPr>
        <p:spPr>
          <a:xfrm>
            <a:off x="548640" y="4206240"/>
            <a:ext cx="11064240" cy="1737360"/>
          </a:xfrm>
          <a:prstGeom prst="roundRect">
            <a:avLst>
              <a:gd fmla="val 4211"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08" name="Google Shape;208;p9"/>
          <p:cNvSpPr/>
          <p:nvPr/>
        </p:nvSpPr>
        <p:spPr>
          <a:xfrm>
            <a:off x="822950" y="4389124"/>
            <a:ext cx="10515600" cy="1106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350"/>
              <a:buFont typeface="Calibri"/>
              <a:buNone/>
            </a:pPr>
            <a:r>
              <a:rPr i="0" lang="en-US" sz="1600" u="none" cap="none" strike="noStrike">
                <a:solidFill>
                  <a:schemeClr val="dk1"/>
                </a:solidFill>
                <a:latin typeface="Times New Roman"/>
                <a:ea typeface="Times New Roman"/>
                <a:cs typeface="Times New Roman"/>
                <a:sym typeface="Times New Roman"/>
              </a:rPr>
              <a:t>A macro F1 of 0.167 is the floor a model that has “learned nothing about minority classes” would score. </a:t>
            </a:r>
            <a:endParaRPr i="0" sz="1600" u="none" cap="none" strike="noStrike">
              <a:solidFill>
                <a:schemeClr val="dk1"/>
              </a:solidFill>
              <a:latin typeface="Times New Roman"/>
              <a:ea typeface="Times New Roman"/>
              <a:cs typeface="Times New Roman"/>
              <a:sym typeface="Times New Roman"/>
            </a:endParaRPr>
          </a:p>
          <a:p>
            <a:pPr indent="0" lvl="0" marL="0" marR="0" rtl="0" algn="l">
              <a:spcBef>
                <a:spcPts val="600"/>
              </a:spcBef>
              <a:spcAft>
                <a:spcPts val="0"/>
              </a:spcAft>
              <a:buClr>
                <a:srgbClr val="333333"/>
              </a:buClr>
              <a:buSzPts val="1350"/>
              <a:buFont typeface="Calibri"/>
              <a:buNone/>
            </a:pPr>
            <a:r>
              <a:rPr i="0" lang="en-US" sz="1600" u="none" cap="none" strike="noStrike">
                <a:solidFill>
                  <a:schemeClr val="dk1"/>
                </a:solidFill>
                <a:latin typeface="Times New Roman"/>
                <a:ea typeface="Times New Roman"/>
                <a:cs typeface="Times New Roman"/>
                <a:sym typeface="Times New Roman"/>
              </a:rPr>
              <a:t>Any real value from this project has to show up as improvement over these two numbers</a:t>
            </a:r>
            <a:r>
              <a:rPr lang="en-US" sz="1600">
                <a:solidFill>
                  <a:schemeClr val="dk1"/>
                </a:solidFill>
                <a:latin typeface="Times New Roman"/>
                <a:ea typeface="Times New Roman"/>
                <a:cs typeface="Times New Roman"/>
                <a:sym typeface="Times New Roman"/>
              </a:rPr>
              <a:t>.</a:t>
            </a:r>
            <a:endParaRPr i="0" sz="1600" u="none" cap="none" strike="noStrike">
              <a:solidFill>
                <a:schemeClr val="dk1"/>
              </a:solidFill>
              <a:latin typeface="Times New Roman"/>
              <a:ea typeface="Times New Roman"/>
              <a:cs typeface="Times New Roman"/>
              <a:sym typeface="Times New Roman"/>
            </a:endParaRPr>
          </a:p>
        </p:txBody>
      </p:sp>
      <p:sp>
        <p:nvSpPr>
          <p:cNvPr id="209" name="Google Shape;209;p9"/>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210" name="Google Shape;210;p9"/>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9</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10"/>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Model Selection</a:t>
            </a:r>
            <a:endParaRPr sz="3000">
              <a:solidFill>
                <a:schemeClr val="dk1"/>
              </a:solidFill>
              <a:latin typeface="Times New Roman"/>
              <a:ea typeface="Times New Roman"/>
              <a:cs typeface="Times New Roman"/>
              <a:sym typeface="Times New Roman"/>
            </a:endParaRPr>
          </a:p>
        </p:txBody>
      </p:sp>
      <p:sp>
        <p:nvSpPr>
          <p:cNvPr id="217" name="Google Shape;217;p10"/>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Three Candidates, One Held-Out Comparison</a:t>
            </a:r>
            <a:endParaRPr i="0" sz="3000" u="none" cap="none" strike="noStrike">
              <a:solidFill>
                <a:schemeClr val="dk1"/>
              </a:solidFill>
              <a:latin typeface="Times New Roman"/>
              <a:ea typeface="Times New Roman"/>
              <a:cs typeface="Times New Roman"/>
              <a:sym typeface="Times New Roman"/>
            </a:endParaRPr>
          </a:p>
        </p:txBody>
      </p:sp>
      <p:graphicFrame>
        <p:nvGraphicFramePr>
          <p:cNvPr id="218" name="Google Shape;218;p10"/>
          <p:cNvGraphicFramePr/>
          <p:nvPr/>
        </p:nvGraphicFramePr>
        <p:xfrm>
          <a:off x="548640" y="1463040"/>
          <a:ext cx="3000000" cy="3000000"/>
        </p:xfrm>
        <a:graphic>
          <a:graphicData uri="http://schemas.openxmlformats.org/drawingml/2006/table">
            <a:tbl>
              <a:tblPr>
                <a:noFill/>
                <a:tableStyleId>{032A5011-61DB-448C-B092-908C2093CFC1}</a:tableStyleId>
              </a:tblPr>
              <a:tblGrid>
                <a:gridCol w="6766550"/>
                <a:gridCol w="2148850"/>
                <a:gridCol w="2148850"/>
              </a:tblGrid>
              <a:tr h="45720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Times New Roman"/>
                          <a:ea typeface="Times New Roman"/>
                          <a:cs typeface="Times New Roman"/>
                          <a:sym typeface="Times New Roman"/>
                        </a:rPr>
                        <a:t>Model</a:t>
                      </a:r>
                      <a:endParaRPr sz="13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Times New Roman"/>
                          <a:ea typeface="Times New Roman"/>
                          <a:cs typeface="Times New Roman"/>
                          <a:sym typeface="Times New Roman"/>
                        </a:rPr>
                        <a:t>Weighted F1</a:t>
                      </a:r>
                      <a:endParaRPr sz="13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Times New Roman"/>
                          <a:ea typeface="Times New Roman"/>
                          <a:cs typeface="Times New Roman"/>
                          <a:sym typeface="Times New Roman"/>
                        </a:rPr>
                        <a:t>Macro F1</a:t>
                      </a:r>
                      <a:endParaRPr sz="13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1E2761"/>
                    </a:solidFill>
                  </a:tcPr>
                </a:tc>
              </a:tr>
              <a:tr h="457200">
                <a:tc>
                  <a:txBody>
                    <a:bodyPr/>
                    <a:lstStyle/>
                    <a:p>
                      <a:pPr indent="0" lvl="0" marL="0" marR="0" rtl="0" algn="l">
                        <a:spcBef>
                          <a:spcPts val="0"/>
                        </a:spcBef>
                        <a:spcAft>
                          <a:spcPts val="0"/>
                        </a:spcAft>
                        <a:buClr>
                          <a:srgbClr val="1E2761"/>
                        </a:buClr>
                        <a:buSzPts val="1300"/>
                        <a:buFont typeface="Calibri"/>
                        <a:buNone/>
                      </a:pPr>
                      <a:r>
                        <a:rPr b="1" lang="en-US" sz="1300" u="none" cap="none" strike="noStrike">
                          <a:solidFill>
                            <a:srgbClr val="1E2761"/>
                          </a:solidFill>
                          <a:latin typeface="Times New Roman"/>
                          <a:ea typeface="Times New Roman"/>
                          <a:cs typeface="Times New Roman"/>
                          <a:sym typeface="Times New Roman"/>
                        </a:rPr>
                        <a:t>XGBoost </a:t>
                      </a:r>
                      <a:r>
                        <a:rPr b="1" lang="en-US" sz="1300">
                          <a:solidFill>
                            <a:srgbClr val="1E2761"/>
                          </a:solidFill>
                          <a:latin typeface="Times New Roman"/>
                          <a:ea typeface="Times New Roman"/>
                          <a:cs typeface="Times New Roman"/>
                          <a:sym typeface="Times New Roman"/>
                        </a:rPr>
                        <a:t>-</a:t>
                      </a:r>
                      <a:r>
                        <a:rPr b="1" lang="en-US" sz="1300" u="none" cap="none" strike="noStrike">
                          <a:solidFill>
                            <a:srgbClr val="1E2761"/>
                          </a:solidFill>
                          <a:latin typeface="Times New Roman"/>
                          <a:ea typeface="Times New Roman"/>
                          <a:cs typeface="Times New Roman"/>
                          <a:sym typeface="Times New Roman"/>
                        </a:rPr>
                        <a:t>default + class-balanced weights</a:t>
                      </a:r>
                      <a:endParaRPr sz="13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EFF7EF"/>
                    </a:solidFill>
                  </a:tcPr>
                </a:tc>
                <a:tc>
                  <a:txBody>
                    <a:bodyPr/>
                    <a:lstStyle/>
                    <a:p>
                      <a:pPr indent="0" lvl="0" marL="0" marR="0" rtl="0" algn="l">
                        <a:spcBef>
                          <a:spcPts val="0"/>
                        </a:spcBef>
                        <a:spcAft>
                          <a:spcPts val="0"/>
                        </a:spcAft>
                        <a:buClr>
                          <a:srgbClr val="1E2761"/>
                        </a:buClr>
                        <a:buSzPts val="1300"/>
                        <a:buFont typeface="Calibri"/>
                        <a:buNone/>
                      </a:pPr>
                      <a:r>
                        <a:rPr b="1" lang="en-US" sz="1300" u="none" cap="none" strike="noStrike">
                          <a:solidFill>
                            <a:srgbClr val="1E2761"/>
                          </a:solidFill>
                          <a:latin typeface="Times New Roman"/>
                          <a:ea typeface="Times New Roman"/>
                          <a:cs typeface="Times New Roman"/>
                          <a:sym typeface="Times New Roman"/>
                        </a:rPr>
                        <a:t>0.538</a:t>
                      </a:r>
                      <a:endParaRPr sz="13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EFF7EF"/>
                    </a:solidFill>
                  </a:tcPr>
                </a:tc>
                <a:tc>
                  <a:txBody>
                    <a:bodyPr/>
                    <a:lstStyle/>
                    <a:p>
                      <a:pPr indent="0" lvl="0" marL="0" marR="0" rtl="0" algn="l">
                        <a:spcBef>
                          <a:spcPts val="0"/>
                        </a:spcBef>
                        <a:spcAft>
                          <a:spcPts val="0"/>
                        </a:spcAft>
                        <a:buClr>
                          <a:srgbClr val="1E2761"/>
                        </a:buClr>
                        <a:buSzPts val="1300"/>
                        <a:buFont typeface="Calibri"/>
                        <a:buNone/>
                      </a:pPr>
                      <a:r>
                        <a:rPr b="1" lang="en-US" sz="1300" u="none" cap="none" strike="noStrike">
                          <a:solidFill>
                            <a:srgbClr val="1E2761"/>
                          </a:solidFill>
                          <a:latin typeface="Times New Roman"/>
                          <a:ea typeface="Times New Roman"/>
                          <a:cs typeface="Times New Roman"/>
                          <a:sym typeface="Times New Roman"/>
                        </a:rPr>
                        <a:t>0.454</a:t>
                      </a:r>
                      <a:endParaRPr sz="13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EFF7EF"/>
                    </a:solidFill>
                  </a:tcPr>
                </a:tc>
              </a:tr>
              <a:tr h="457200">
                <a:tc>
                  <a:txBody>
                    <a:bodyPr/>
                    <a:lstStyle/>
                    <a:p>
                      <a:pPr indent="0" lvl="0" marL="0" marR="0" rtl="0" algn="l">
                        <a:spcBef>
                          <a:spcPts val="0"/>
                        </a:spcBef>
                        <a:spcAft>
                          <a:spcPts val="0"/>
                        </a:spcAft>
                        <a:buClr>
                          <a:srgbClr val="333333"/>
                        </a:buClr>
                        <a:buSzPts val="1300"/>
                        <a:buFont typeface="Calibri"/>
                        <a:buNone/>
                      </a:pPr>
                      <a:r>
                        <a:rPr lang="en-US" sz="1300" u="none" cap="none" strike="noStrike">
                          <a:solidFill>
                            <a:srgbClr val="333333"/>
                          </a:solidFill>
                          <a:latin typeface="Times New Roman"/>
                          <a:ea typeface="Times New Roman"/>
                          <a:cs typeface="Times New Roman"/>
                          <a:sym typeface="Times New Roman"/>
                        </a:rPr>
                        <a:t>XGBoost </a:t>
                      </a:r>
                      <a:r>
                        <a:rPr lang="en-US" sz="1300">
                          <a:solidFill>
                            <a:srgbClr val="333333"/>
                          </a:solidFill>
                          <a:latin typeface="Times New Roman"/>
                          <a:ea typeface="Times New Roman"/>
                          <a:cs typeface="Times New Roman"/>
                          <a:sym typeface="Times New Roman"/>
                        </a:rPr>
                        <a:t>-</a:t>
                      </a:r>
                      <a:r>
                        <a:rPr lang="en-US" sz="1300" u="none" cap="none" strike="noStrike">
                          <a:solidFill>
                            <a:srgbClr val="333333"/>
                          </a:solidFill>
                          <a:latin typeface="Times New Roman"/>
                          <a:ea typeface="Times New Roman"/>
                          <a:cs typeface="Times New Roman"/>
                          <a:sym typeface="Times New Roman"/>
                        </a:rPr>
                        <a:t>tuned (RandomizedSearchCV)</a:t>
                      </a:r>
                      <a:endParaRPr sz="13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7F8FC"/>
                    </a:solidFill>
                  </a:tcPr>
                </a:tc>
                <a:tc>
                  <a:txBody>
                    <a:bodyPr/>
                    <a:lstStyle/>
                    <a:p>
                      <a:pPr indent="0" lvl="0" marL="0" marR="0" rtl="0" algn="l">
                        <a:spcBef>
                          <a:spcPts val="0"/>
                        </a:spcBef>
                        <a:spcAft>
                          <a:spcPts val="0"/>
                        </a:spcAft>
                        <a:buClr>
                          <a:srgbClr val="333333"/>
                        </a:buClr>
                        <a:buSzPts val="1300"/>
                        <a:buFont typeface="Calibri"/>
                        <a:buNone/>
                      </a:pPr>
                      <a:r>
                        <a:rPr lang="en-US" sz="1300" u="none" cap="none" strike="noStrike">
                          <a:solidFill>
                            <a:srgbClr val="333333"/>
                          </a:solidFill>
                          <a:latin typeface="Times New Roman"/>
                          <a:ea typeface="Times New Roman"/>
                          <a:cs typeface="Times New Roman"/>
                          <a:sym typeface="Times New Roman"/>
                        </a:rPr>
                        <a:t>0.531</a:t>
                      </a:r>
                      <a:endParaRPr sz="13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7F8FC"/>
                    </a:solidFill>
                  </a:tcPr>
                </a:tc>
                <a:tc>
                  <a:txBody>
                    <a:bodyPr/>
                    <a:lstStyle/>
                    <a:p>
                      <a:pPr indent="0" lvl="0" marL="0" marR="0" rtl="0" algn="l">
                        <a:spcBef>
                          <a:spcPts val="0"/>
                        </a:spcBef>
                        <a:spcAft>
                          <a:spcPts val="0"/>
                        </a:spcAft>
                        <a:buClr>
                          <a:srgbClr val="333333"/>
                        </a:buClr>
                        <a:buSzPts val="1300"/>
                        <a:buFont typeface="Calibri"/>
                        <a:buNone/>
                      </a:pPr>
                      <a:r>
                        <a:rPr lang="en-US" sz="1300" u="none" cap="none" strike="noStrike">
                          <a:solidFill>
                            <a:srgbClr val="333333"/>
                          </a:solidFill>
                          <a:latin typeface="Times New Roman"/>
                          <a:ea typeface="Times New Roman"/>
                          <a:cs typeface="Times New Roman"/>
                          <a:sym typeface="Times New Roman"/>
                        </a:rPr>
                        <a:t>0.451</a:t>
                      </a:r>
                      <a:endParaRPr sz="13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7F8FC"/>
                    </a:solidFill>
                  </a:tcPr>
                </a:tc>
              </a:tr>
              <a:tr h="457200">
                <a:tc>
                  <a:txBody>
                    <a:bodyPr/>
                    <a:lstStyle/>
                    <a:p>
                      <a:pPr indent="0" lvl="0" marL="0" marR="0" rtl="0" algn="l">
                        <a:spcBef>
                          <a:spcPts val="0"/>
                        </a:spcBef>
                        <a:spcAft>
                          <a:spcPts val="0"/>
                        </a:spcAft>
                        <a:buClr>
                          <a:srgbClr val="333333"/>
                        </a:buClr>
                        <a:buSzPts val="1300"/>
                        <a:buFont typeface="Calibri"/>
                        <a:buNone/>
                      </a:pPr>
                      <a:r>
                        <a:rPr lang="en-US" sz="1300" u="none" cap="none" strike="noStrike">
                          <a:solidFill>
                            <a:srgbClr val="333333"/>
                          </a:solidFill>
                          <a:latin typeface="Times New Roman"/>
                          <a:ea typeface="Times New Roman"/>
                          <a:cs typeface="Times New Roman"/>
                          <a:sym typeface="Times New Roman"/>
                        </a:rPr>
                        <a:t>CatBoost </a:t>
                      </a:r>
                      <a:r>
                        <a:rPr lang="en-US" sz="1300">
                          <a:solidFill>
                            <a:srgbClr val="333333"/>
                          </a:solidFill>
                          <a:latin typeface="Times New Roman"/>
                          <a:ea typeface="Times New Roman"/>
                          <a:cs typeface="Times New Roman"/>
                          <a:sym typeface="Times New Roman"/>
                        </a:rPr>
                        <a:t>-</a:t>
                      </a:r>
                      <a:r>
                        <a:rPr lang="en-US" sz="1300" u="none" cap="none" strike="noStrike">
                          <a:solidFill>
                            <a:srgbClr val="333333"/>
                          </a:solidFill>
                          <a:latin typeface="Times New Roman"/>
                          <a:ea typeface="Times New Roman"/>
                          <a:cs typeface="Times New Roman"/>
                          <a:sym typeface="Times New Roman"/>
                        </a:rPr>
                        <a:t>native categorical handling</a:t>
                      </a:r>
                      <a:endParaRPr sz="13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33333"/>
                        </a:buClr>
                        <a:buSzPts val="1300"/>
                        <a:buFont typeface="Calibri"/>
                        <a:buNone/>
                      </a:pPr>
                      <a:r>
                        <a:rPr lang="en-US" sz="1300" u="none" cap="none" strike="noStrike">
                          <a:solidFill>
                            <a:srgbClr val="333333"/>
                          </a:solidFill>
                          <a:latin typeface="Times New Roman"/>
                          <a:ea typeface="Times New Roman"/>
                          <a:cs typeface="Times New Roman"/>
                          <a:sym typeface="Times New Roman"/>
                        </a:rPr>
                        <a:t>0.518</a:t>
                      </a:r>
                      <a:endParaRPr sz="13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33333"/>
                        </a:buClr>
                        <a:buSzPts val="1300"/>
                        <a:buFont typeface="Calibri"/>
                        <a:buNone/>
                      </a:pPr>
                      <a:r>
                        <a:rPr lang="en-US" sz="1300" u="none" cap="none" strike="noStrike">
                          <a:solidFill>
                            <a:srgbClr val="333333"/>
                          </a:solidFill>
                          <a:latin typeface="Times New Roman"/>
                          <a:ea typeface="Times New Roman"/>
                          <a:cs typeface="Times New Roman"/>
                          <a:sym typeface="Times New Roman"/>
                        </a:rPr>
                        <a:t>0.446</a:t>
                      </a:r>
                      <a:endParaRPr sz="13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FFFFF"/>
                    </a:solidFill>
                  </a:tcPr>
                </a:tc>
              </a:tr>
            </a:tbl>
          </a:graphicData>
        </a:graphic>
      </p:graphicFrame>
      <p:sp>
        <p:nvSpPr>
          <p:cNvPr id="219" name="Google Shape;219;p10"/>
          <p:cNvSpPr/>
          <p:nvPr/>
        </p:nvSpPr>
        <p:spPr>
          <a:xfrm>
            <a:off x="548640" y="3566160"/>
            <a:ext cx="11064240" cy="2194560"/>
          </a:xfrm>
          <a:prstGeom prst="roundRect">
            <a:avLst>
              <a:gd fmla="val 3333"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20" name="Google Shape;220;p10"/>
          <p:cNvSpPr/>
          <p:nvPr/>
        </p:nvSpPr>
        <p:spPr>
          <a:xfrm>
            <a:off x="822960" y="3749040"/>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3D8944"/>
              </a:buClr>
              <a:buSzPts val="1400"/>
              <a:buFont typeface="Calibri"/>
              <a:buNone/>
            </a:pPr>
            <a:r>
              <a:rPr b="1" i="0" lang="en-US" sz="1600" u="none" cap="none" strike="noStrike">
                <a:solidFill>
                  <a:srgbClr val="3D8944"/>
                </a:solidFill>
                <a:latin typeface="Times New Roman"/>
                <a:ea typeface="Times New Roman"/>
                <a:cs typeface="Times New Roman"/>
                <a:sym typeface="Times New Roman"/>
              </a:rPr>
              <a:t>Selected: XGBoost with default hyperparameters + class-balanced sample weights.  </a:t>
            </a:r>
            <a:endParaRPr i="0" sz="1600" u="none" cap="none" strike="noStrike">
              <a:solidFill>
                <a:schemeClr val="dk1"/>
              </a:solidFill>
              <a:latin typeface="Times New Roman"/>
              <a:ea typeface="Times New Roman"/>
              <a:cs typeface="Times New Roman"/>
              <a:sym typeface="Times New Roman"/>
            </a:endParaRPr>
          </a:p>
          <a:p>
            <a:pPr indent="0" lvl="0" marL="0" marR="0" rtl="0" algn="l">
              <a:lnSpc>
                <a:spcPct val="120000"/>
              </a:lnSpc>
              <a:spcBef>
                <a:spcPts val="600"/>
              </a:spcBef>
              <a:spcAft>
                <a:spcPts val="0"/>
              </a:spcAft>
              <a:buClr>
                <a:srgbClr val="333333"/>
              </a:buClr>
              <a:buSzPts val="1300"/>
              <a:buFont typeface="Calibri"/>
              <a:buNone/>
            </a:pPr>
            <a:r>
              <a:rPr i="0" lang="en-US" sz="1600" u="none" cap="none" strike="noStrike">
                <a:solidFill>
                  <a:srgbClr val="333333"/>
                </a:solidFill>
                <a:latin typeface="Times New Roman"/>
                <a:ea typeface="Times New Roman"/>
                <a:cs typeface="Times New Roman"/>
                <a:sym typeface="Times New Roman"/>
              </a:rPr>
              <a:t>It scored highest on macro F1</a:t>
            </a:r>
            <a:r>
              <a:rPr lang="en-US" sz="1600">
                <a:solidFill>
                  <a:srgbClr val="333333"/>
                </a:solidFill>
                <a:latin typeface="Times New Roman"/>
                <a:ea typeface="Times New Roman"/>
                <a:cs typeface="Times New Roman"/>
                <a:sym typeface="Times New Roman"/>
              </a:rPr>
              <a:t>, the</a:t>
            </a:r>
            <a:r>
              <a:rPr i="0" lang="en-US" sz="1600" u="none" cap="none" strike="noStrike">
                <a:solidFill>
                  <a:srgbClr val="333333"/>
                </a:solidFill>
                <a:latin typeface="Times New Roman"/>
                <a:ea typeface="Times New Roman"/>
                <a:cs typeface="Times New Roman"/>
                <a:sym typeface="Times New Roman"/>
              </a:rPr>
              <a:t> primary metric</a:t>
            </a:r>
            <a:r>
              <a:rPr lang="en-US" sz="1600">
                <a:solidFill>
                  <a:srgbClr val="333333"/>
                </a:solidFill>
                <a:latin typeface="Times New Roman"/>
                <a:ea typeface="Times New Roman"/>
                <a:cs typeface="Times New Roman"/>
                <a:sym typeface="Times New Roman"/>
              </a:rPr>
              <a:t>,</a:t>
            </a:r>
            <a:r>
              <a:rPr i="0" lang="en-US" sz="1600" u="none" cap="none" strike="noStrike">
                <a:solidFill>
                  <a:srgbClr val="333333"/>
                </a:solidFill>
                <a:latin typeface="Times New Roman"/>
                <a:ea typeface="Times New Roman"/>
                <a:cs typeface="Times New Roman"/>
                <a:sym typeface="Times New Roman"/>
              </a:rPr>
              <a:t> and hyperparameter tuning did not meaningfully improve on the defaults.</a:t>
            </a:r>
            <a:endParaRPr i="0" sz="1600" u="none" cap="none" strike="noStrike">
              <a:solidFill>
                <a:schemeClr val="dk1"/>
              </a:solidFill>
              <a:latin typeface="Times New Roman"/>
              <a:ea typeface="Times New Roman"/>
              <a:cs typeface="Times New Roman"/>
              <a:sym typeface="Times New Roman"/>
            </a:endParaRPr>
          </a:p>
        </p:txBody>
      </p:sp>
      <p:sp>
        <p:nvSpPr>
          <p:cNvPr id="221" name="Google Shape;221;p10"/>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222" name="Google Shape;222;p10"/>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10</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11"/>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Headline Results</a:t>
            </a:r>
            <a:endParaRPr sz="3000">
              <a:solidFill>
                <a:schemeClr val="dk1"/>
              </a:solidFill>
              <a:latin typeface="Times New Roman"/>
              <a:ea typeface="Times New Roman"/>
              <a:cs typeface="Times New Roman"/>
              <a:sym typeface="Times New Roman"/>
            </a:endParaRPr>
          </a:p>
        </p:txBody>
      </p:sp>
      <p:sp>
        <p:nvSpPr>
          <p:cNvPr id="229" name="Google Shape;229;p11"/>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Model vs. Baseline</a:t>
            </a:r>
            <a:endParaRPr i="0" sz="3000" u="none" cap="none" strike="noStrike">
              <a:solidFill>
                <a:schemeClr val="dk1"/>
              </a:solidFill>
              <a:latin typeface="Times New Roman"/>
              <a:ea typeface="Times New Roman"/>
              <a:cs typeface="Times New Roman"/>
              <a:sym typeface="Times New Roman"/>
            </a:endParaRPr>
          </a:p>
        </p:txBody>
      </p:sp>
      <p:sp>
        <p:nvSpPr>
          <p:cNvPr id="230" name="Google Shape;230;p11"/>
          <p:cNvSpPr/>
          <p:nvPr/>
        </p:nvSpPr>
        <p:spPr>
          <a:xfrm>
            <a:off x="548640" y="1417320"/>
            <a:ext cx="3566160" cy="2377440"/>
          </a:xfrm>
          <a:prstGeom prst="roundRect">
            <a:avLst>
              <a:gd fmla="val 3077"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31" name="Google Shape;231;p11"/>
          <p:cNvSpPr/>
          <p:nvPr/>
        </p:nvSpPr>
        <p:spPr>
          <a:xfrm>
            <a:off x="731520" y="155448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1300"/>
              <a:buFont typeface="Calibri"/>
              <a:buNone/>
            </a:pPr>
            <a:r>
              <a:rPr b="1" i="0" lang="en-US" sz="1300" u="none" cap="none" strike="noStrike">
                <a:solidFill>
                  <a:srgbClr val="5A5F73"/>
                </a:solidFill>
                <a:latin typeface="Times New Roman"/>
                <a:ea typeface="Times New Roman"/>
                <a:cs typeface="Times New Roman"/>
                <a:sym typeface="Times New Roman"/>
              </a:rPr>
              <a:t>Weighted F1</a:t>
            </a:r>
            <a:endParaRPr i="0" sz="1300" u="none" cap="none" strike="noStrike">
              <a:solidFill>
                <a:schemeClr val="dk1"/>
              </a:solidFill>
              <a:latin typeface="Times New Roman"/>
              <a:ea typeface="Times New Roman"/>
              <a:cs typeface="Times New Roman"/>
              <a:sym typeface="Times New Roman"/>
            </a:endParaRPr>
          </a:p>
        </p:txBody>
      </p:sp>
      <p:sp>
        <p:nvSpPr>
          <p:cNvPr id="232" name="Google Shape;232;p11"/>
          <p:cNvSpPr/>
          <p:nvPr/>
        </p:nvSpPr>
        <p:spPr>
          <a:xfrm>
            <a:off x="731520" y="1965960"/>
            <a:ext cx="3200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1500"/>
              <a:buFont typeface="Cambria"/>
              <a:buNone/>
            </a:pPr>
            <a:r>
              <a:rPr i="0" lang="en-US" sz="1500" u="none" cap="none" strike="noStrike">
                <a:solidFill>
                  <a:srgbClr val="5A5F73"/>
                </a:solidFill>
                <a:latin typeface="Times New Roman"/>
                <a:ea typeface="Times New Roman"/>
                <a:cs typeface="Times New Roman"/>
                <a:sym typeface="Times New Roman"/>
              </a:rPr>
              <a:t>0.333</a:t>
            </a:r>
            <a:endParaRPr i="0" sz="1500" u="none" cap="none" strike="noStrike">
              <a:solidFill>
                <a:schemeClr val="dk1"/>
              </a:solidFill>
              <a:latin typeface="Times New Roman"/>
              <a:ea typeface="Times New Roman"/>
              <a:cs typeface="Times New Roman"/>
              <a:sym typeface="Times New Roman"/>
            </a:endParaRPr>
          </a:p>
        </p:txBody>
      </p:sp>
      <p:sp>
        <p:nvSpPr>
          <p:cNvPr id="233" name="Google Shape;233;p11"/>
          <p:cNvSpPr/>
          <p:nvPr/>
        </p:nvSpPr>
        <p:spPr>
          <a:xfrm>
            <a:off x="731520" y="237744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6EF"/>
              </a:buClr>
              <a:buSzPts val="1800"/>
              <a:buFont typeface="Calibri"/>
              <a:buNone/>
            </a:pPr>
            <a:r>
              <a:rPr i="0" lang="en-US" sz="1800" u="none" cap="none" strike="noStrike">
                <a:solidFill>
                  <a:srgbClr val="E4E6EF"/>
                </a:solidFill>
                <a:latin typeface="Times New Roman"/>
                <a:ea typeface="Times New Roman"/>
                <a:cs typeface="Times New Roman"/>
                <a:sym typeface="Times New Roman"/>
              </a:rPr>
              <a:t>→</a:t>
            </a:r>
            <a:endParaRPr i="0" sz="1800" u="none" cap="none" strike="noStrike">
              <a:solidFill>
                <a:schemeClr val="dk1"/>
              </a:solidFill>
              <a:latin typeface="Times New Roman"/>
              <a:ea typeface="Times New Roman"/>
              <a:cs typeface="Times New Roman"/>
              <a:sym typeface="Times New Roman"/>
            </a:endParaRPr>
          </a:p>
        </p:txBody>
      </p:sp>
      <p:sp>
        <p:nvSpPr>
          <p:cNvPr id="234" name="Google Shape;234;p11"/>
          <p:cNvSpPr/>
          <p:nvPr/>
        </p:nvSpPr>
        <p:spPr>
          <a:xfrm>
            <a:off x="731520" y="2743200"/>
            <a:ext cx="32004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0.538</a:t>
            </a:r>
            <a:endParaRPr i="0" sz="3000" u="none" cap="none" strike="noStrike">
              <a:solidFill>
                <a:schemeClr val="dk1"/>
              </a:solidFill>
              <a:latin typeface="Times New Roman"/>
              <a:ea typeface="Times New Roman"/>
              <a:cs typeface="Times New Roman"/>
              <a:sym typeface="Times New Roman"/>
            </a:endParaRPr>
          </a:p>
        </p:txBody>
      </p:sp>
      <p:sp>
        <p:nvSpPr>
          <p:cNvPr id="235" name="Google Shape;235;p11"/>
          <p:cNvSpPr/>
          <p:nvPr/>
        </p:nvSpPr>
        <p:spPr>
          <a:xfrm>
            <a:off x="731520" y="333756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8944"/>
              </a:buClr>
              <a:buSzPts val="1300"/>
              <a:buFont typeface="Calibri"/>
              <a:buNone/>
            </a:pPr>
            <a:r>
              <a:rPr b="1" i="0" lang="en-US" sz="1300" u="none" cap="none" strike="noStrike">
                <a:solidFill>
                  <a:srgbClr val="3D8944"/>
                </a:solidFill>
                <a:latin typeface="Times New Roman"/>
                <a:ea typeface="Times New Roman"/>
                <a:cs typeface="Times New Roman"/>
                <a:sym typeface="Times New Roman"/>
              </a:rPr>
              <a:t>+0.205</a:t>
            </a:r>
            <a:endParaRPr i="0" sz="1300" u="none" cap="none" strike="noStrike">
              <a:solidFill>
                <a:schemeClr val="dk1"/>
              </a:solidFill>
              <a:latin typeface="Times New Roman"/>
              <a:ea typeface="Times New Roman"/>
              <a:cs typeface="Times New Roman"/>
              <a:sym typeface="Times New Roman"/>
            </a:endParaRPr>
          </a:p>
        </p:txBody>
      </p:sp>
      <p:sp>
        <p:nvSpPr>
          <p:cNvPr id="236" name="Google Shape;236;p11"/>
          <p:cNvSpPr/>
          <p:nvPr/>
        </p:nvSpPr>
        <p:spPr>
          <a:xfrm>
            <a:off x="4297680" y="1417320"/>
            <a:ext cx="3566160" cy="2377440"/>
          </a:xfrm>
          <a:prstGeom prst="roundRect">
            <a:avLst>
              <a:gd fmla="val 3077"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37" name="Google Shape;237;p11"/>
          <p:cNvSpPr/>
          <p:nvPr/>
        </p:nvSpPr>
        <p:spPr>
          <a:xfrm>
            <a:off x="4480560" y="155448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1300"/>
              <a:buFont typeface="Calibri"/>
              <a:buNone/>
            </a:pPr>
            <a:r>
              <a:rPr b="1" i="0" lang="en-US" sz="1300" u="none" cap="none" strike="noStrike">
                <a:solidFill>
                  <a:srgbClr val="5A5F73"/>
                </a:solidFill>
                <a:latin typeface="Times New Roman"/>
                <a:ea typeface="Times New Roman"/>
                <a:cs typeface="Times New Roman"/>
                <a:sym typeface="Times New Roman"/>
              </a:rPr>
              <a:t>Macro F1</a:t>
            </a:r>
            <a:endParaRPr i="0" sz="1300" u="none" cap="none" strike="noStrike">
              <a:solidFill>
                <a:schemeClr val="dk1"/>
              </a:solidFill>
              <a:latin typeface="Times New Roman"/>
              <a:ea typeface="Times New Roman"/>
              <a:cs typeface="Times New Roman"/>
              <a:sym typeface="Times New Roman"/>
            </a:endParaRPr>
          </a:p>
        </p:txBody>
      </p:sp>
      <p:sp>
        <p:nvSpPr>
          <p:cNvPr id="238" name="Google Shape;238;p11"/>
          <p:cNvSpPr/>
          <p:nvPr/>
        </p:nvSpPr>
        <p:spPr>
          <a:xfrm>
            <a:off x="4480560" y="1965960"/>
            <a:ext cx="3200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1500"/>
              <a:buFont typeface="Cambria"/>
              <a:buNone/>
            </a:pPr>
            <a:r>
              <a:rPr i="0" lang="en-US" sz="1500" u="none" cap="none" strike="noStrike">
                <a:solidFill>
                  <a:srgbClr val="5A5F73"/>
                </a:solidFill>
                <a:latin typeface="Times New Roman"/>
                <a:ea typeface="Times New Roman"/>
                <a:cs typeface="Times New Roman"/>
                <a:sym typeface="Times New Roman"/>
              </a:rPr>
              <a:t>0.167</a:t>
            </a:r>
            <a:endParaRPr i="0" sz="1500" u="none" cap="none" strike="noStrike">
              <a:solidFill>
                <a:schemeClr val="dk1"/>
              </a:solidFill>
              <a:latin typeface="Times New Roman"/>
              <a:ea typeface="Times New Roman"/>
              <a:cs typeface="Times New Roman"/>
              <a:sym typeface="Times New Roman"/>
            </a:endParaRPr>
          </a:p>
        </p:txBody>
      </p:sp>
      <p:sp>
        <p:nvSpPr>
          <p:cNvPr id="239" name="Google Shape;239;p11"/>
          <p:cNvSpPr/>
          <p:nvPr/>
        </p:nvSpPr>
        <p:spPr>
          <a:xfrm>
            <a:off x="4480560" y="237744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6EF"/>
              </a:buClr>
              <a:buSzPts val="1800"/>
              <a:buFont typeface="Calibri"/>
              <a:buNone/>
            </a:pPr>
            <a:r>
              <a:rPr i="0" lang="en-US" sz="1800" u="none" cap="none" strike="noStrike">
                <a:solidFill>
                  <a:srgbClr val="E4E6EF"/>
                </a:solidFill>
                <a:latin typeface="Times New Roman"/>
                <a:ea typeface="Times New Roman"/>
                <a:cs typeface="Times New Roman"/>
                <a:sym typeface="Times New Roman"/>
              </a:rPr>
              <a:t>→</a:t>
            </a:r>
            <a:endParaRPr i="0" sz="1800" u="none" cap="none" strike="noStrike">
              <a:solidFill>
                <a:schemeClr val="dk1"/>
              </a:solidFill>
              <a:latin typeface="Times New Roman"/>
              <a:ea typeface="Times New Roman"/>
              <a:cs typeface="Times New Roman"/>
              <a:sym typeface="Times New Roman"/>
            </a:endParaRPr>
          </a:p>
        </p:txBody>
      </p:sp>
      <p:sp>
        <p:nvSpPr>
          <p:cNvPr id="240" name="Google Shape;240;p11"/>
          <p:cNvSpPr/>
          <p:nvPr/>
        </p:nvSpPr>
        <p:spPr>
          <a:xfrm>
            <a:off x="4480560" y="2743200"/>
            <a:ext cx="32004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0.454</a:t>
            </a:r>
            <a:endParaRPr i="0" sz="3000" u="none" cap="none" strike="noStrike">
              <a:solidFill>
                <a:schemeClr val="dk1"/>
              </a:solidFill>
              <a:latin typeface="Times New Roman"/>
              <a:ea typeface="Times New Roman"/>
              <a:cs typeface="Times New Roman"/>
              <a:sym typeface="Times New Roman"/>
            </a:endParaRPr>
          </a:p>
        </p:txBody>
      </p:sp>
      <p:sp>
        <p:nvSpPr>
          <p:cNvPr id="241" name="Google Shape;241;p11"/>
          <p:cNvSpPr/>
          <p:nvPr/>
        </p:nvSpPr>
        <p:spPr>
          <a:xfrm>
            <a:off x="4480560" y="333756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8944"/>
              </a:buClr>
              <a:buSzPts val="1300"/>
              <a:buFont typeface="Calibri"/>
              <a:buNone/>
            </a:pPr>
            <a:r>
              <a:rPr b="1" i="0" lang="en-US" sz="1300" u="none" cap="none" strike="noStrike">
                <a:solidFill>
                  <a:srgbClr val="3D8944"/>
                </a:solidFill>
                <a:latin typeface="Times New Roman"/>
                <a:ea typeface="Times New Roman"/>
                <a:cs typeface="Times New Roman"/>
                <a:sym typeface="Times New Roman"/>
              </a:rPr>
              <a:t>+0.287</a:t>
            </a:r>
            <a:endParaRPr i="0" sz="1300" u="none" cap="none" strike="noStrike">
              <a:solidFill>
                <a:schemeClr val="dk1"/>
              </a:solidFill>
              <a:latin typeface="Times New Roman"/>
              <a:ea typeface="Times New Roman"/>
              <a:cs typeface="Times New Roman"/>
              <a:sym typeface="Times New Roman"/>
            </a:endParaRPr>
          </a:p>
        </p:txBody>
      </p:sp>
      <p:sp>
        <p:nvSpPr>
          <p:cNvPr id="242" name="Google Shape;242;p11"/>
          <p:cNvSpPr/>
          <p:nvPr/>
        </p:nvSpPr>
        <p:spPr>
          <a:xfrm>
            <a:off x="8046720" y="1417320"/>
            <a:ext cx="3566160" cy="2377440"/>
          </a:xfrm>
          <a:prstGeom prst="roundRect">
            <a:avLst>
              <a:gd fmla="val 3077"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43" name="Google Shape;243;p11"/>
          <p:cNvSpPr/>
          <p:nvPr/>
        </p:nvSpPr>
        <p:spPr>
          <a:xfrm>
            <a:off x="8229600" y="155448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1300"/>
              <a:buFont typeface="Calibri"/>
              <a:buNone/>
            </a:pPr>
            <a:r>
              <a:rPr b="1" i="0" lang="en-US" sz="1300" u="none" cap="none" strike="noStrike">
                <a:solidFill>
                  <a:srgbClr val="5A5F73"/>
                </a:solidFill>
                <a:latin typeface="Times New Roman"/>
                <a:ea typeface="Times New Roman"/>
                <a:cs typeface="Times New Roman"/>
                <a:sym typeface="Times New Roman"/>
              </a:rPr>
              <a:t>Accuracy</a:t>
            </a:r>
            <a:endParaRPr i="0" sz="1300" u="none" cap="none" strike="noStrike">
              <a:solidFill>
                <a:schemeClr val="dk1"/>
              </a:solidFill>
              <a:latin typeface="Times New Roman"/>
              <a:ea typeface="Times New Roman"/>
              <a:cs typeface="Times New Roman"/>
              <a:sym typeface="Times New Roman"/>
            </a:endParaRPr>
          </a:p>
        </p:txBody>
      </p:sp>
      <p:sp>
        <p:nvSpPr>
          <p:cNvPr id="244" name="Google Shape;244;p11"/>
          <p:cNvSpPr/>
          <p:nvPr/>
        </p:nvSpPr>
        <p:spPr>
          <a:xfrm>
            <a:off x="8229600" y="1965960"/>
            <a:ext cx="3200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5F73"/>
              </a:buClr>
              <a:buSzPts val="1500"/>
              <a:buFont typeface="Cambria"/>
              <a:buNone/>
            </a:pPr>
            <a:r>
              <a:rPr i="0" lang="en-US" sz="1500" u="none" cap="none" strike="noStrike">
                <a:solidFill>
                  <a:srgbClr val="5A5F73"/>
                </a:solidFill>
                <a:latin typeface="Times New Roman"/>
                <a:ea typeface="Times New Roman"/>
                <a:cs typeface="Times New Roman"/>
                <a:sym typeface="Times New Roman"/>
              </a:rPr>
              <a:t>50.0%</a:t>
            </a:r>
            <a:endParaRPr i="0" sz="1500" u="none" cap="none" strike="noStrike">
              <a:solidFill>
                <a:schemeClr val="dk1"/>
              </a:solidFill>
              <a:latin typeface="Times New Roman"/>
              <a:ea typeface="Times New Roman"/>
              <a:cs typeface="Times New Roman"/>
              <a:sym typeface="Times New Roman"/>
            </a:endParaRPr>
          </a:p>
        </p:txBody>
      </p:sp>
      <p:sp>
        <p:nvSpPr>
          <p:cNvPr id="245" name="Google Shape;245;p11"/>
          <p:cNvSpPr/>
          <p:nvPr/>
        </p:nvSpPr>
        <p:spPr>
          <a:xfrm>
            <a:off x="8229600" y="237744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6EF"/>
              </a:buClr>
              <a:buSzPts val="1800"/>
              <a:buFont typeface="Calibri"/>
              <a:buNone/>
            </a:pPr>
            <a:r>
              <a:rPr i="0" lang="en-US" sz="1800" u="none" cap="none" strike="noStrike">
                <a:solidFill>
                  <a:srgbClr val="E4E6EF"/>
                </a:solidFill>
                <a:latin typeface="Times New Roman"/>
                <a:ea typeface="Times New Roman"/>
                <a:cs typeface="Times New Roman"/>
                <a:sym typeface="Times New Roman"/>
              </a:rPr>
              <a:t>→</a:t>
            </a:r>
            <a:endParaRPr i="0" sz="1800" u="none" cap="none" strike="noStrike">
              <a:solidFill>
                <a:schemeClr val="dk1"/>
              </a:solidFill>
              <a:latin typeface="Times New Roman"/>
              <a:ea typeface="Times New Roman"/>
              <a:cs typeface="Times New Roman"/>
              <a:sym typeface="Times New Roman"/>
            </a:endParaRPr>
          </a:p>
        </p:txBody>
      </p:sp>
      <p:sp>
        <p:nvSpPr>
          <p:cNvPr id="246" name="Google Shape;246;p11"/>
          <p:cNvSpPr/>
          <p:nvPr/>
        </p:nvSpPr>
        <p:spPr>
          <a:xfrm>
            <a:off x="8229600" y="2743200"/>
            <a:ext cx="32004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52.</a:t>
            </a:r>
            <a:r>
              <a:rPr b="1" lang="en-US" sz="3000">
                <a:solidFill>
                  <a:srgbClr val="1E2761"/>
                </a:solidFill>
                <a:latin typeface="Times New Roman"/>
                <a:ea typeface="Times New Roman"/>
                <a:cs typeface="Times New Roman"/>
                <a:sym typeface="Times New Roman"/>
              </a:rPr>
              <a:t>2</a:t>
            </a:r>
            <a:r>
              <a:rPr b="1" i="0" lang="en-US" sz="3000" u="none" cap="none" strike="noStrike">
                <a:solidFill>
                  <a:srgbClr val="1E2761"/>
                </a:solidFill>
                <a:latin typeface="Times New Roman"/>
                <a:ea typeface="Times New Roman"/>
                <a:cs typeface="Times New Roman"/>
                <a:sym typeface="Times New Roman"/>
              </a:rPr>
              <a:t>%</a:t>
            </a:r>
            <a:endParaRPr i="0" sz="3000" u="none" cap="none" strike="noStrike">
              <a:solidFill>
                <a:schemeClr val="dk1"/>
              </a:solidFill>
              <a:latin typeface="Times New Roman"/>
              <a:ea typeface="Times New Roman"/>
              <a:cs typeface="Times New Roman"/>
              <a:sym typeface="Times New Roman"/>
            </a:endParaRPr>
          </a:p>
        </p:txBody>
      </p:sp>
      <p:sp>
        <p:nvSpPr>
          <p:cNvPr id="247" name="Google Shape;247;p11"/>
          <p:cNvSpPr/>
          <p:nvPr/>
        </p:nvSpPr>
        <p:spPr>
          <a:xfrm>
            <a:off x="8229600" y="3337560"/>
            <a:ext cx="3200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D8944"/>
              </a:buClr>
              <a:buSzPts val="1300"/>
              <a:buFont typeface="Calibri"/>
              <a:buNone/>
            </a:pPr>
            <a:r>
              <a:rPr b="1" i="0" lang="en-US" sz="1300" u="none" cap="none" strike="noStrike">
                <a:solidFill>
                  <a:srgbClr val="3D8944"/>
                </a:solidFill>
                <a:latin typeface="Times New Roman"/>
                <a:ea typeface="Times New Roman"/>
                <a:cs typeface="Times New Roman"/>
                <a:sym typeface="Times New Roman"/>
              </a:rPr>
              <a:t>+2.0 pp</a:t>
            </a:r>
            <a:endParaRPr i="0" sz="1300" u="none" cap="none" strike="noStrike">
              <a:solidFill>
                <a:schemeClr val="dk1"/>
              </a:solidFill>
              <a:latin typeface="Times New Roman"/>
              <a:ea typeface="Times New Roman"/>
              <a:cs typeface="Times New Roman"/>
              <a:sym typeface="Times New Roman"/>
            </a:endParaRPr>
          </a:p>
        </p:txBody>
      </p:sp>
      <p:sp>
        <p:nvSpPr>
          <p:cNvPr id="248" name="Google Shape;248;p11"/>
          <p:cNvSpPr/>
          <p:nvPr/>
        </p:nvSpPr>
        <p:spPr>
          <a:xfrm>
            <a:off x="548640" y="4023360"/>
            <a:ext cx="11064240" cy="1920240"/>
          </a:xfrm>
          <a:prstGeom prst="roundRect">
            <a:avLst>
              <a:gd fmla="val 381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49" name="Google Shape;249;p11"/>
          <p:cNvSpPr/>
          <p:nvPr/>
        </p:nvSpPr>
        <p:spPr>
          <a:xfrm>
            <a:off x="822960" y="4206240"/>
            <a:ext cx="10515600" cy="155448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E8B93D"/>
              </a:buClr>
              <a:buSzPts val="1400"/>
              <a:buFont typeface="Calibri"/>
              <a:buNone/>
            </a:pPr>
            <a:r>
              <a:rPr b="1" i="0" lang="en-US" sz="1400" u="none" cap="none" strike="noStrike">
                <a:solidFill>
                  <a:srgbClr val="E8B93D"/>
                </a:solidFill>
                <a:latin typeface="Times New Roman"/>
                <a:ea typeface="Times New Roman"/>
                <a:cs typeface="Times New Roman"/>
                <a:sym typeface="Times New Roman"/>
              </a:rPr>
              <a:t>Honest framing: </a:t>
            </a:r>
            <a:endParaRPr i="0" sz="1400" u="none" cap="none" strike="noStrike">
              <a:solidFill>
                <a:schemeClr val="dk1"/>
              </a:solidFill>
              <a:latin typeface="Times New Roman"/>
              <a:ea typeface="Times New Roman"/>
              <a:cs typeface="Times New Roman"/>
              <a:sym typeface="Times New Roman"/>
            </a:endParaRPr>
          </a:p>
          <a:p>
            <a:pPr indent="0" lvl="0" marL="0" marR="0" rtl="0" algn="l">
              <a:lnSpc>
                <a:spcPct val="125000"/>
              </a:lnSpc>
              <a:spcBef>
                <a:spcPts val="600"/>
              </a:spcBef>
              <a:spcAft>
                <a:spcPts val="0"/>
              </a:spcAft>
              <a:buClr>
                <a:srgbClr val="CADCFC"/>
              </a:buClr>
              <a:buSzPts val="1300"/>
              <a:buFont typeface="Calibri"/>
              <a:buNone/>
            </a:pPr>
            <a:r>
              <a:rPr i="0" lang="en-US" sz="1300" u="none" cap="none" strike="noStrike">
                <a:solidFill>
                  <a:srgbClr val="CADCFC"/>
                </a:solidFill>
                <a:latin typeface="Times New Roman"/>
                <a:ea typeface="Times New Roman"/>
                <a:cs typeface="Times New Roman"/>
                <a:sym typeface="Times New Roman"/>
              </a:rPr>
              <a:t>macro F1 nearly tripled over baseline, which means the model has genuinely learned to distinguish the minority insecure classes not just the majority class. But 52% accuracy on a 4-class problem is a working prototype, not a finished decision-maker. It should rank and prioritise households for follow-up, not replace a caseworker's judgement.</a:t>
            </a:r>
            <a:endParaRPr i="0" sz="1400" u="none" cap="none" strike="noStrike">
              <a:solidFill>
                <a:schemeClr val="dk1"/>
              </a:solidFill>
              <a:latin typeface="Times New Roman"/>
              <a:ea typeface="Times New Roman"/>
              <a:cs typeface="Times New Roman"/>
              <a:sym typeface="Times New Roman"/>
            </a:endParaRPr>
          </a:p>
        </p:txBody>
      </p:sp>
      <p:sp>
        <p:nvSpPr>
          <p:cNvPr id="250" name="Google Shape;250;p11"/>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251" name="Google Shape;251;p11"/>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11</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12"/>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Error Analysis</a:t>
            </a:r>
            <a:endParaRPr sz="3000">
              <a:solidFill>
                <a:schemeClr val="dk1"/>
              </a:solidFill>
              <a:latin typeface="Times New Roman"/>
              <a:ea typeface="Times New Roman"/>
              <a:cs typeface="Times New Roman"/>
              <a:sym typeface="Times New Roman"/>
            </a:endParaRPr>
          </a:p>
        </p:txBody>
      </p:sp>
      <p:sp>
        <p:nvSpPr>
          <p:cNvPr id="258" name="Google Shape;258;p12"/>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Where the Model Gets It Wrong and Why It Matters</a:t>
            </a:r>
            <a:endParaRPr i="0" sz="3000" u="none" cap="none" strike="noStrike">
              <a:solidFill>
                <a:schemeClr val="dk1"/>
              </a:solidFill>
              <a:latin typeface="Times New Roman"/>
              <a:ea typeface="Times New Roman"/>
              <a:cs typeface="Times New Roman"/>
              <a:sym typeface="Times New Roman"/>
            </a:endParaRPr>
          </a:p>
        </p:txBody>
      </p:sp>
      <p:pic>
        <p:nvPicPr>
          <p:cNvPr descr="/home/claude/charts/confusion_matrix.png" id="259" name="Google Shape;259;p12"/>
          <p:cNvPicPr preferRelativeResize="0"/>
          <p:nvPr/>
        </p:nvPicPr>
        <p:blipFill rotWithShape="1">
          <a:blip r:embed="rId3">
            <a:alphaModFix/>
          </a:blip>
          <a:srcRect b="0" l="0" r="0" t="0"/>
          <a:stretch/>
        </p:blipFill>
        <p:spPr>
          <a:xfrm>
            <a:off x="457200" y="1234440"/>
            <a:ext cx="5577840" cy="4846320"/>
          </a:xfrm>
          <a:prstGeom prst="rect">
            <a:avLst/>
          </a:prstGeom>
          <a:noFill/>
          <a:ln>
            <a:noFill/>
          </a:ln>
        </p:spPr>
      </p:pic>
      <p:sp>
        <p:nvSpPr>
          <p:cNvPr id="260" name="Google Shape;260;p12"/>
          <p:cNvSpPr/>
          <p:nvPr/>
        </p:nvSpPr>
        <p:spPr>
          <a:xfrm>
            <a:off x="6309360" y="1371600"/>
            <a:ext cx="5349240" cy="2148840"/>
          </a:xfrm>
          <a:prstGeom prst="roundRect">
            <a:avLst>
              <a:gd fmla="val 3404"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p:nvPr/>
        </p:nvSpPr>
        <p:spPr>
          <a:xfrm>
            <a:off x="6309360" y="1371600"/>
            <a:ext cx="5349240" cy="457200"/>
          </a:xfrm>
          <a:prstGeom prst="roundRect">
            <a:avLst>
              <a:gd fmla="val 16000"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p:nvPr/>
        </p:nvSpPr>
        <p:spPr>
          <a:xfrm>
            <a:off x="6309360" y="1600200"/>
            <a:ext cx="5349240" cy="228600"/>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
          <p:cNvSpPr/>
          <p:nvPr/>
        </p:nvSpPr>
        <p:spPr>
          <a:xfrm>
            <a:off x="6446520" y="1371600"/>
            <a:ext cx="50749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The costly error direction</a:t>
            </a:r>
            <a:endParaRPr i="0" sz="1300" u="none" cap="none" strike="noStrike">
              <a:solidFill>
                <a:schemeClr val="dk1"/>
              </a:solidFill>
              <a:latin typeface="Times New Roman"/>
              <a:ea typeface="Times New Roman"/>
              <a:cs typeface="Times New Roman"/>
              <a:sym typeface="Times New Roman"/>
            </a:endParaRPr>
          </a:p>
        </p:txBody>
      </p:sp>
      <p:sp>
        <p:nvSpPr>
          <p:cNvPr id="264" name="Google Shape;264;p12"/>
          <p:cNvSpPr/>
          <p:nvPr/>
        </p:nvSpPr>
        <p:spPr>
          <a:xfrm>
            <a:off x="6473952" y="1938528"/>
            <a:ext cx="5020056" cy="146304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20.2% of genuinely insecure households were misclassified as food secure</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In an assistance-targeting context, this is the more damaging error</a:t>
            </a:r>
            <a:r>
              <a:rPr lang="en-US" sz="1600">
                <a:solidFill>
                  <a:schemeClr val="dk1"/>
                </a:solidFill>
                <a:latin typeface="Times New Roman"/>
                <a:ea typeface="Times New Roman"/>
                <a:cs typeface="Times New Roman"/>
                <a:sym typeface="Times New Roman"/>
              </a:rPr>
              <a:t>: </a:t>
            </a:r>
            <a:r>
              <a:rPr i="0" lang="en-US" sz="1600" u="none" cap="none" strike="noStrike">
                <a:solidFill>
                  <a:schemeClr val="dk1"/>
                </a:solidFill>
                <a:latin typeface="Times New Roman"/>
                <a:ea typeface="Times New Roman"/>
                <a:cs typeface="Times New Roman"/>
                <a:sym typeface="Times New Roman"/>
              </a:rPr>
              <a:t>a household that needs help is not flagged for it</a:t>
            </a:r>
            <a:endParaRPr i="0" sz="1600" u="none" cap="none" strike="noStrike">
              <a:solidFill>
                <a:schemeClr val="dk1"/>
              </a:solidFill>
              <a:latin typeface="Times New Roman"/>
              <a:ea typeface="Times New Roman"/>
              <a:cs typeface="Times New Roman"/>
              <a:sym typeface="Times New Roman"/>
            </a:endParaRPr>
          </a:p>
        </p:txBody>
      </p:sp>
      <p:sp>
        <p:nvSpPr>
          <p:cNvPr id="265" name="Google Shape;265;p12"/>
          <p:cNvSpPr/>
          <p:nvPr/>
        </p:nvSpPr>
        <p:spPr>
          <a:xfrm>
            <a:off x="6309360" y="3657600"/>
            <a:ext cx="5349240" cy="2148840"/>
          </a:xfrm>
          <a:prstGeom prst="roundRect">
            <a:avLst>
              <a:gd fmla="val 3404"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2"/>
          <p:cNvSpPr/>
          <p:nvPr/>
        </p:nvSpPr>
        <p:spPr>
          <a:xfrm>
            <a:off x="6309360" y="3657600"/>
            <a:ext cx="5349240" cy="457200"/>
          </a:xfrm>
          <a:prstGeom prst="roundRect">
            <a:avLst>
              <a:gd fmla="val 16000" name="adj"/>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
          <p:cNvSpPr/>
          <p:nvPr/>
        </p:nvSpPr>
        <p:spPr>
          <a:xfrm>
            <a:off x="6309360" y="3886200"/>
            <a:ext cx="5349240" cy="228600"/>
          </a:xfrm>
          <a:prstGeom prst="rect">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6446520" y="3657600"/>
            <a:ext cx="50749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Pattern in the errors</a:t>
            </a:r>
            <a:endParaRPr i="0" sz="1300" u="none" cap="none" strike="noStrike">
              <a:solidFill>
                <a:schemeClr val="dk1"/>
              </a:solidFill>
              <a:latin typeface="Times New Roman"/>
              <a:ea typeface="Times New Roman"/>
              <a:cs typeface="Times New Roman"/>
              <a:sym typeface="Times New Roman"/>
            </a:endParaRPr>
          </a:p>
        </p:txBody>
      </p:sp>
      <p:sp>
        <p:nvSpPr>
          <p:cNvPr id="269" name="Google Shape;269;p12"/>
          <p:cNvSpPr/>
          <p:nvPr/>
        </p:nvSpPr>
        <p:spPr>
          <a:xfrm>
            <a:off x="6473950" y="4224523"/>
            <a:ext cx="5020200" cy="228600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Errors concentrate along the </a:t>
            </a:r>
            <a:r>
              <a:rPr lang="en-US" sz="1600">
                <a:solidFill>
                  <a:schemeClr val="dk1"/>
                </a:solidFill>
                <a:latin typeface="Times New Roman"/>
                <a:ea typeface="Times New Roman"/>
                <a:cs typeface="Times New Roman"/>
                <a:sym typeface="Times New Roman"/>
              </a:rPr>
              <a:t>diagonal</a:t>
            </a:r>
            <a:r>
              <a:rPr i="0" lang="en-US" sz="1600" u="none" cap="none" strike="noStrike">
                <a:solidFill>
                  <a:schemeClr val="dk1"/>
                </a:solidFill>
                <a:latin typeface="Times New Roman"/>
                <a:ea typeface="Times New Roman"/>
                <a:cs typeface="Times New Roman"/>
                <a:sym typeface="Times New Roman"/>
              </a:rPr>
              <a:t> neighbours (adjacent severity classes), not scattered randomly</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p>
            <a:pPr indent="-374650" lvl="0" marL="342900" marR="0" rtl="0" algn="l">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Most errors are one category off, but a substantial share jump two categories, 62 truly food-secure households were predicted severely insecure, more than the 34 moderate→severe misses.</a:t>
            </a:r>
            <a:endParaRPr sz="1600">
              <a:solidFill>
                <a:schemeClr val="dk1"/>
              </a:solidFill>
              <a:latin typeface="Times New Roman"/>
              <a:ea typeface="Times New Roman"/>
              <a:cs typeface="Times New Roman"/>
              <a:sym typeface="Times New Roman"/>
            </a:endParaRPr>
          </a:p>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Moderately-insecure is the weakest class (F1 = 0.28)</a:t>
            </a:r>
            <a:r>
              <a:rPr lang="en-US" sz="1600">
                <a:solidFill>
                  <a:schemeClr val="dk1"/>
                </a:solidFill>
                <a:latin typeface="Times New Roman"/>
                <a:ea typeface="Times New Roman"/>
                <a:cs typeface="Times New Roman"/>
                <a:sym typeface="Times New Roman"/>
              </a:rPr>
              <a:t>: </a:t>
            </a:r>
            <a:r>
              <a:rPr i="0" lang="en-US" sz="1600" u="none" cap="none" strike="noStrike">
                <a:solidFill>
                  <a:schemeClr val="dk1"/>
                </a:solidFill>
                <a:latin typeface="Times New Roman"/>
                <a:ea typeface="Times New Roman"/>
                <a:cs typeface="Times New Roman"/>
                <a:sym typeface="Times New Roman"/>
              </a:rPr>
              <a:t>the hardest boundary to draw</a:t>
            </a:r>
            <a:endParaRPr i="0" sz="1600" u="none" cap="none" strike="noStrike">
              <a:solidFill>
                <a:schemeClr val="dk1"/>
              </a:solidFill>
              <a:latin typeface="Times New Roman"/>
              <a:ea typeface="Times New Roman"/>
              <a:cs typeface="Times New Roman"/>
              <a:sym typeface="Times New Roman"/>
            </a:endParaRPr>
          </a:p>
        </p:txBody>
      </p:sp>
      <p:sp>
        <p:nvSpPr>
          <p:cNvPr id="270" name="Google Shape;270;p12"/>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b="0" i="0" lang="en-US" sz="900" u="none" cap="none" strike="noStrike">
                <a:solidFill>
                  <a:srgbClr val="9AA0B8"/>
                </a:solidFill>
                <a:latin typeface="Calibri"/>
                <a:ea typeface="Calibri"/>
                <a:cs typeface="Calibri"/>
                <a:sym typeface="Calibri"/>
              </a:rPr>
              <a:t>Ngao Labs Capstone · Group 10 — Food Security Screening</a:t>
            </a:r>
            <a:endParaRPr b="0" i="0" sz="900" u="none" cap="none" strike="noStrike">
              <a:solidFill>
                <a:schemeClr val="dk1"/>
              </a:solidFill>
              <a:latin typeface="Calibri"/>
              <a:ea typeface="Calibri"/>
              <a:cs typeface="Calibri"/>
              <a:sym typeface="Calibri"/>
            </a:endParaRPr>
          </a:p>
        </p:txBody>
      </p:sp>
      <p:sp>
        <p:nvSpPr>
          <p:cNvPr id="271" name="Google Shape;271;p12"/>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b="0" i="0" lang="en-US" sz="900" u="none" cap="none" strike="noStrike">
                <a:solidFill>
                  <a:srgbClr val="9AA0B8"/>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13"/>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Model Interpretation</a:t>
            </a:r>
            <a:endParaRPr sz="3000">
              <a:solidFill>
                <a:schemeClr val="dk1"/>
              </a:solidFill>
              <a:latin typeface="Times New Roman"/>
              <a:ea typeface="Times New Roman"/>
              <a:cs typeface="Times New Roman"/>
              <a:sym typeface="Times New Roman"/>
            </a:endParaRPr>
          </a:p>
        </p:txBody>
      </p:sp>
      <p:sp>
        <p:nvSpPr>
          <p:cNvPr id="278" name="Google Shape;278;p13"/>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What Actually Drives the Model</a:t>
            </a:r>
            <a:r>
              <a:rPr b="1" lang="en-US" sz="3000">
                <a:solidFill>
                  <a:srgbClr val="1E2761"/>
                </a:solidFill>
                <a:latin typeface="Times New Roman"/>
                <a:ea typeface="Times New Roman"/>
                <a:cs typeface="Times New Roman"/>
                <a:sym typeface="Times New Roman"/>
              </a:rPr>
              <a:t>’</a:t>
            </a:r>
            <a:r>
              <a:rPr b="1" i="0" lang="en-US" sz="3000" u="none" cap="none" strike="noStrike">
                <a:solidFill>
                  <a:srgbClr val="1E2761"/>
                </a:solidFill>
                <a:latin typeface="Times New Roman"/>
                <a:ea typeface="Times New Roman"/>
                <a:cs typeface="Times New Roman"/>
                <a:sym typeface="Times New Roman"/>
              </a:rPr>
              <a:t>s Predictions</a:t>
            </a:r>
            <a:endParaRPr i="0" sz="3000" u="none" cap="none" strike="noStrike">
              <a:solidFill>
                <a:schemeClr val="dk1"/>
              </a:solidFill>
              <a:latin typeface="Times New Roman"/>
              <a:ea typeface="Times New Roman"/>
              <a:cs typeface="Times New Roman"/>
              <a:sym typeface="Times New Roman"/>
            </a:endParaRPr>
          </a:p>
        </p:txBody>
      </p:sp>
      <p:pic>
        <p:nvPicPr>
          <p:cNvPr descr="/home/claude/charts/feature_importance_clean.png" id="279" name="Google Shape;279;p13"/>
          <p:cNvPicPr preferRelativeResize="0"/>
          <p:nvPr/>
        </p:nvPicPr>
        <p:blipFill rotWithShape="1">
          <a:blip r:embed="rId3">
            <a:alphaModFix/>
          </a:blip>
          <a:srcRect b="0" l="0" r="0" t="0"/>
          <a:stretch/>
        </p:blipFill>
        <p:spPr>
          <a:xfrm>
            <a:off x="365760" y="1188720"/>
            <a:ext cx="6949440" cy="4892040"/>
          </a:xfrm>
          <a:prstGeom prst="rect">
            <a:avLst/>
          </a:prstGeom>
          <a:noFill/>
          <a:ln>
            <a:noFill/>
          </a:ln>
        </p:spPr>
      </p:pic>
      <p:sp>
        <p:nvSpPr>
          <p:cNvPr id="280" name="Google Shape;280;p13"/>
          <p:cNvSpPr/>
          <p:nvPr/>
        </p:nvSpPr>
        <p:spPr>
          <a:xfrm>
            <a:off x="7498080" y="1371600"/>
            <a:ext cx="4160520" cy="4663440"/>
          </a:xfrm>
          <a:prstGeom prst="roundRect">
            <a:avLst>
              <a:gd fmla="val 1758"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7498080" y="1371600"/>
            <a:ext cx="4160520" cy="457200"/>
          </a:xfrm>
          <a:prstGeom prst="roundRect">
            <a:avLst>
              <a:gd fmla="val 16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3"/>
          <p:cNvSpPr/>
          <p:nvPr/>
        </p:nvSpPr>
        <p:spPr>
          <a:xfrm>
            <a:off x="7498080" y="1600200"/>
            <a:ext cx="4160520" cy="22860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3"/>
          <p:cNvSpPr/>
          <p:nvPr/>
        </p:nvSpPr>
        <p:spPr>
          <a:xfrm>
            <a:off x="7635240" y="1371600"/>
            <a:ext cx="3886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Reading the signal</a:t>
            </a:r>
            <a:endParaRPr i="0" sz="1300" u="none" cap="none" strike="noStrike">
              <a:solidFill>
                <a:schemeClr val="dk1"/>
              </a:solidFill>
              <a:latin typeface="Times New Roman"/>
              <a:ea typeface="Times New Roman"/>
              <a:cs typeface="Times New Roman"/>
              <a:sym typeface="Times New Roman"/>
            </a:endParaRPr>
          </a:p>
        </p:txBody>
      </p:sp>
      <p:sp>
        <p:nvSpPr>
          <p:cNvPr id="284" name="Google Shape;284;p13"/>
          <p:cNvSpPr/>
          <p:nvPr/>
        </p:nvSpPr>
        <p:spPr>
          <a:xfrm>
            <a:off x="7662672" y="1938528"/>
            <a:ext cx="3831336" cy="397764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Housing materials (wall/floor type) dominate</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 a durable, low-cost proxy for structural poverty</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Distress-coping behaviours matter: took a loan, sold assets, medicines out of stock</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Livestock value and food expenditure share both carry real economic signal</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This lines up with the World Bank's own Kenya COVID-19 RRPS finding that dirt-floor households are 9pp more likely to go hungry</a:t>
            </a:r>
            <a:endParaRPr i="0" sz="1600" u="none" cap="none" strike="noStrike">
              <a:solidFill>
                <a:schemeClr val="dk1"/>
              </a:solidFill>
              <a:latin typeface="Times New Roman"/>
              <a:ea typeface="Times New Roman"/>
              <a:cs typeface="Times New Roman"/>
              <a:sym typeface="Times New Roman"/>
            </a:endParaRPr>
          </a:p>
        </p:txBody>
      </p:sp>
      <p:sp>
        <p:nvSpPr>
          <p:cNvPr id="285" name="Google Shape;285;p13"/>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b="0" i="0" lang="en-US" sz="900" u="none" cap="none" strike="noStrike">
                <a:solidFill>
                  <a:srgbClr val="9AA0B8"/>
                </a:solidFill>
                <a:latin typeface="Calibri"/>
                <a:ea typeface="Calibri"/>
                <a:cs typeface="Calibri"/>
                <a:sym typeface="Calibri"/>
              </a:rPr>
              <a:t>Ngao Labs Capstone · Group 10 — Food Security Screening</a:t>
            </a:r>
            <a:endParaRPr b="0" i="0" sz="900" u="none" cap="none" strike="noStrike">
              <a:solidFill>
                <a:schemeClr val="dk1"/>
              </a:solidFill>
              <a:latin typeface="Calibri"/>
              <a:ea typeface="Calibri"/>
              <a:cs typeface="Calibri"/>
              <a:sym typeface="Calibri"/>
            </a:endParaRPr>
          </a:p>
        </p:txBody>
      </p:sp>
      <p:sp>
        <p:nvSpPr>
          <p:cNvPr id="286" name="Google Shape;286;p13"/>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b="0" i="0" lang="en-US" sz="900" u="none" cap="none" strike="noStrike">
                <a:solidFill>
                  <a:srgbClr val="9AA0B8"/>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14"/>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Fairness Evaluation</a:t>
            </a:r>
            <a:endParaRPr sz="3000">
              <a:solidFill>
                <a:schemeClr val="dk1"/>
              </a:solidFill>
              <a:latin typeface="Times New Roman"/>
              <a:ea typeface="Times New Roman"/>
              <a:cs typeface="Times New Roman"/>
              <a:sym typeface="Times New Roman"/>
            </a:endParaRPr>
          </a:p>
        </p:txBody>
      </p:sp>
      <p:sp>
        <p:nvSpPr>
          <p:cNvPr id="293" name="Google Shape;293;p14"/>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The Model Performs Worse for Rural Households</a:t>
            </a:r>
            <a:endParaRPr i="0" sz="3000" u="none" cap="none" strike="noStrike">
              <a:solidFill>
                <a:schemeClr val="dk1"/>
              </a:solidFill>
              <a:latin typeface="Times New Roman"/>
              <a:ea typeface="Times New Roman"/>
              <a:cs typeface="Times New Roman"/>
              <a:sym typeface="Times New Roman"/>
            </a:endParaRPr>
          </a:p>
        </p:txBody>
      </p:sp>
      <p:graphicFrame>
        <p:nvGraphicFramePr>
          <p:cNvPr id="294" name="Google Shape;294;p14"/>
          <p:cNvGraphicFramePr/>
          <p:nvPr/>
        </p:nvGraphicFramePr>
        <p:xfrm>
          <a:off x="548640" y="1371600"/>
          <a:ext cx="3000000" cy="3000000"/>
        </p:xfrm>
        <a:graphic>
          <a:graphicData uri="http://schemas.openxmlformats.org/drawingml/2006/table">
            <a:tbl>
              <a:tblPr>
                <a:noFill/>
                <a:tableStyleId>{032A5011-61DB-448C-B092-908C2093CFC1}</a:tableStyleId>
              </a:tblPr>
              <a:tblGrid>
                <a:gridCol w="2011675"/>
                <a:gridCol w="1188725"/>
                <a:gridCol w="1143000"/>
                <a:gridCol w="1143000"/>
              </a:tblGrid>
              <a:tr h="579125">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Times New Roman"/>
                          <a:ea typeface="Times New Roman"/>
                          <a:cs typeface="Times New Roman"/>
                          <a:sym typeface="Times New Roman"/>
                        </a:rPr>
                        <a:t>Subgroup</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Times New Roman"/>
                          <a:ea typeface="Times New Roman"/>
                          <a:cs typeface="Times New Roman"/>
                          <a:sym typeface="Times New Roman"/>
                        </a:rPr>
                        <a:t>N (test)</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Times New Roman"/>
                          <a:ea typeface="Times New Roman"/>
                          <a:cs typeface="Times New Roman"/>
                          <a:sym typeface="Times New Roman"/>
                        </a:rPr>
                        <a:t>Weighted F1</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Times New Roman"/>
                          <a:ea typeface="Times New Roman"/>
                          <a:cs typeface="Times New Roman"/>
                          <a:sym typeface="Times New Roman"/>
                        </a:rPr>
                        <a:t>Macro F1</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1E2761"/>
                    </a:solidFill>
                  </a:tcPr>
                </a:tc>
              </a:tr>
              <a:tr h="579125">
                <a:tc>
                  <a:txBody>
                    <a:bodyPr/>
                    <a:lstStyle/>
                    <a:p>
                      <a:pPr indent="0" lvl="0" marL="0" marR="0" rtl="0" algn="l">
                        <a:spcBef>
                          <a:spcPts val="0"/>
                        </a:spcBef>
                        <a:spcAft>
                          <a:spcPts val="0"/>
                        </a:spcAft>
                        <a:buClr>
                          <a:srgbClr val="333333"/>
                        </a:buClr>
                        <a:buSzPts val="1400"/>
                        <a:buFont typeface="Calibri"/>
                        <a:buNone/>
                      </a:pPr>
                      <a:r>
                        <a:rPr lang="en-US" sz="1400" u="none" cap="none" strike="noStrike">
                          <a:solidFill>
                            <a:srgbClr val="333333"/>
                          </a:solidFill>
                          <a:latin typeface="Times New Roman"/>
                          <a:ea typeface="Times New Roman"/>
                          <a:cs typeface="Times New Roman"/>
                          <a:sym typeface="Times New Roman"/>
                        </a:rPr>
                        <a:t>Urban</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7F8FC"/>
                    </a:solidFill>
                  </a:tcPr>
                </a:tc>
                <a:tc>
                  <a:txBody>
                    <a:bodyPr/>
                    <a:lstStyle/>
                    <a:p>
                      <a:pPr indent="0" lvl="0" marL="0" marR="0" rtl="0" algn="l">
                        <a:spcBef>
                          <a:spcPts val="0"/>
                        </a:spcBef>
                        <a:spcAft>
                          <a:spcPts val="0"/>
                        </a:spcAft>
                        <a:buClr>
                          <a:srgbClr val="333333"/>
                        </a:buClr>
                        <a:buSzPts val="1400"/>
                        <a:buFont typeface="Calibri"/>
                        <a:buNone/>
                      </a:pPr>
                      <a:r>
                        <a:rPr lang="en-US" sz="1400" u="none" cap="none" strike="noStrike">
                          <a:solidFill>
                            <a:srgbClr val="333333"/>
                          </a:solidFill>
                          <a:latin typeface="Times New Roman"/>
                          <a:ea typeface="Times New Roman"/>
                          <a:cs typeface="Times New Roman"/>
                          <a:sym typeface="Times New Roman"/>
                        </a:rPr>
                        <a:t>523</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7F8FC"/>
                    </a:solidFill>
                  </a:tcPr>
                </a:tc>
                <a:tc>
                  <a:txBody>
                    <a:bodyPr/>
                    <a:lstStyle/>
                    <a:p>
                      <a:pPr indent="0" lvl="0" marL="0" marR="0" rtl="0" algn="l">
                        <a:spcBef>
                          <a:spcPts val="0"/>
                        </a:spcBef>
                        <a:spcAft>
                          <a:spcPts val="0"/>
                        </a:spcAft>
                        <a:buClr>
                          <a:srgbClr val="333333"/>
                        </a:buClr>
                        <a:buSzPts val="1400"/>
                        <a:buFont typeface="Calibri"/>
                        <a:buNone/>
                      </a:pPr>
                      <a:r>
                        <a:rPr lang="en-US" sz="1400" u="none" cap="none" strike="noStrike">
                          <a:solidFill>
                            <a:srgbClr val="333333"/>
                          </a:solidFill>
                          <a:latin typeface="Times New Roman"/>
                          <a:ea typeface="Times New Roman"/>
                          <a:cs typeface="Times New Roman"/>
                          <a:sym typeface="Times New Roman"/>
                        </a:rPr>
                        <a:t>0.563</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7F8FC"/>
                    </a:solidFill>
                  </a:tcPr>
                </a:tc>
                <a:tc>
                  <a:txBody>
                    <a:bodyPr/>
                    <a:lstStyle/>
                    <a:p>
                      <a:pPr indent="0" lvl="0" marL="0" marR="0" rtl="0" algn="l">
                        <a:spcBef>
                          <a:spcPts val="0"/>
                        </a:spcBef>
                        <a:spcAft>
                          <a:spcPts val="0"/>
                        </a:spcAft>
                        <a:buClr>
                          <a:srgbClr val="333333"/>
                        </a:buClr>
                        <a:buSzPts val="1400"/>
                        <a:buFont typeface="Calibri"/>
                        <a:buNone/>
                      </a:pPr>
                      <a:r>
                        <a:rPr lang="en-US" sz="1400" u="none" cap="none" strike="noStrike">
                          <a:solidFill>
                            <a:srgbClr val="333333"/>
                          </a:solidFill>
                          <a:latin typeface="Times New Roman"/>
                          <a:ea typeface="Times New Roman"/>
                          <a:cs typeface="Times New Roman"/>
                          <a:sym typeface="Times New Roman"/>
                        </a:rPr>
                        <a:t>0.469</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7F8FC"/>
                    </a:solidFill>
                  </a:tcPr>
                </a:tc>
              </a:tr>
              <a:tr h="579125">
                <a:tc>
                  <a:txBody>
                    <a:bodyPr/>
                    <a:lstStyle/>
                    <a:p>
                      <a:pPr indent="0" lvl="0" marL="0" marR="0" rtl="0" algn="l">
                        <a:spcBef>
                          <a:spcPts val="0"/>
                        </a:spcBef>
                        <a:spcAft>
                          <a:spcPts val="0"/>
                        </a:spcAft>
                        <a:buClr>
                          <a:srgbClr val="333333"/>
                        </a:buClr>
                        <a:buSzPts val="1400"/>
                        <a:buFont typeface="Calibri"/>
                        <a:buNone/>
                      </a:pPr>
                      <a:r>
                        <a:rPr lang="en-US" sz="1400" u="none" cap="none" strike="noStrike">
                          <a:solidFill>
                            <a:srgbClr val="333333"/>
                          </a:solidFill>
                          <a:latin typeface="Times New Roman"/>
                          <a:ea typeface="Times New Roman"/>
                          <a:cs typeface="Times New Roman"/>
                          <a:sym typeface="Times New Roman"/>
                        </a:rPr>
                        <a:t>Rural</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7F8FC"/>
                    </a:solidFill>
                  </a:tcPr>
                </a:tc>
                <a:tc>
                  <a:txBody>
                    <a:bodyPr/>
                    <a:lstStyle/>
                    <a:p>
                      <a:pPr indent="0" lvl="0" marL="0" marR="0" rtl="0" algn="l">
                        <a:spcBef>
                          <a:spcPts val="0"/>
                        </a:spcBef>
                        <a:spcAft>
                          <a:spcPts val="0"/>
                        </a:spcAft>
                        <a:buClr>
                          <a:srgbClr val="333333"/>
                        </a:buClr>
                        <a:buSzPts val="1400"/>
                        <a:buFont typeface="Calibri"/>
                        <a:buNone/>
                      </a:pPr>
                      <a:r>
                        <a:rPr lang="en-US" sz="1400" u="none" cap="none" strike="noStrike">
                          <a:solidFill>
                            <a:srgbClr val="333333"/>
                          </a:solidFill>
                          <a:latin typeface="Times New Roman"/>
                          <a:ea typeface="Times New Roman"/>
                          <a:cs typeface="Times New Roman"/>
                          <a:sym typeface="Times New Roman"/>
                        </a:rPr>
                        <a:t>456</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7F8FC"/>
                    </a:solidFill>
                  </a:tcPr>
                </a:tc>
                <a:tc>
                  <a:txBody>
                    <a:bodyPr/>
                    <a:lstStyle/>
                    <a:p>
                      <a:pPr indent="0" lvl="0" marL="0" marR="0" rtl="0" algn="l">
                        <a:spcBef>
                          <a:spcPts val="0"/>
                        </a:spcBef>
                        <a:spcAft>
                          <a:spcPts val="0"/>
                        </a:spcAft>
                        <a:buClr>
                          <a:srgbClr val="333333"/>
                        </a:buClr>
                        <a:buSzPts val="1400"/>
                        <a:buFont typeface="Calibri"/>
                        <a:buNone/>
                      </a:pPr>
                      <a:r>
                        <a:rPr lang="en-US" sz="1400" u="none" cap="none" strike="noStrike">
                          <a:solidFill>
                            <a:srgbClr val="333333"/>
                          </a:solidFill>
                          <a:latin typeface="Times New Roman"/>
                          <a:ea typeface="Times New Roman"/>
                          <a:cs typeface="Times New Roman"/>
                          <a:sym typeface="Times New Roman"/>
                        </a:rPr>
                        <a:t>0.507</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7F8FC"/>
                    </a:solidFill>
                  </a:tcPr>
                </a:tc>
                <a:tc>
                  <a:txBody>
                    <a:bodyPr/>
                    <a:lstStyle/>
                    <a:p>
                      <a:pPr indent="0" lvl="0" marL="0" marR="0" rtl="0" algn="l">
                        <a:spcBef>
                          <a:spcPts val="0"/>
                        </a:spcBef>
                        <a:spcAft>
                          <a:spcPts val="0"/>
                        </a:spcAft>
                        <a:buClr>
                          <a:srgbClr val="333333"/>
                        </a:buClr>
                        <a:buSzPts val="1400"/>
                        <a:buFont typeface="Calibri"/>
                        <a:buNone/>
                      </a:pPr>
                      <a:r>
                        <a:rPr lang="en-US" sz="1400" u="none" cap="none" strike="noStrike">
                          <a:solidFill>
                            <a:srgbClr val="333333"/>
                          </a:solidFill>
                          <a:latin typeface="Times New Roman"/>
                          <a:ea typeface="Times New Roman"/>
                          <a:cs typeface="Times New Roman"/>
                          <a:sym typeface="Times New Roman"/>
                        </a:rPr>
                        <a:t>0.436</a:t>
                      </a:r>
                      <a:endParaRPr sz="1400" u="none" cap="none" strike="noStrike">
                        <a:latin typeface="Times New Roman"/>
                        <a:ea typeface="Times New Roman"/>
                        <a:cs typeface="Times New Roman"/>
                        <a:sym typeface="Times New Roman"/>
                      </a:endParaRPr>
                    </a:p>
                  </a:txBody>
                  <a:tcPr marT="45725" marB="45725" marR="91450" marL="91450" anchor="ctr">
                    <a:lnL cap="flat" cmpd="sng" w="12700">
                      <a:solidFill>
                        <a:srgbClr val="E4E6EF"/>
                      </a:solidFill>
                      <a:prstDash val="solid"/>
                      <a:round/>
                      <a:headEnd len="sm" w="sm" type="none"/>
                      <a:tailEnd len="sm" w="sm" type="none"/>
                    </a:lnL>
                    <a:lnR cap="flat" cmpd="sng" w="12700">
                      <a:solidFill>
                        <a:srgbClr val="E4E6EF"/>
                      </a:solidFill>
                      <a:prstDash val="solid"/>
                      <a:round/>
                      <a:headEnd len="sm" w="sm" type="none"/>
                      <a:tailEnd len="sm" w="sm" type="none"/>
                    </a:lnR>
                    <a:lnT cap="flat" cmpd="sng" w="12700">
                      <a:solidFill>
                        <a:srgbClr val="E4E6EF"/>
                      </a:solidFill>
                      <a:prstDash val="solid"/>
                      <a:round/>
                      <a:headEnd len="sm" w="sm" type="none"/>
                      <a:tailEnd len="sm" w="sm" type="none"/>
                    </a:lnT>
                    <a:lnB cap="flat" cmpd="sng" w="12700">
                      <a:solidFill>
                        <a:srgbClr val="E4E6EF"/>
                      </a:solidFill>
                      <a:prstDash val="solid"/>
                      <a:round/>
                      <a:headEnd len="sm" w="sm" type="none"/>
                      <a:tailEnd len="sm" w="sm" type="none"/>
                    </a:lnB>
                    <a:solidFill>
                      <a:srgbClr val="F7F8FC"/>
                    </a:solidFill>
                  </a:tcPr>
                </a:tc>
              </a:tr>
            </a:tbl>
          </a:graphicData>
        </a:graphic>
      </p:graphicFrame>
      <p:sp>
        <p:nvSpPr>
          <p:cNvPr id="295" name="Google Shape;295;p14"/>
          <p:cNvSpPr/>
          <p:nvPr/>
        </p:nvSpPr>
        <p:spPr>
          <a:xfrm>
            <a:off x="6309360" y="1371600"/>
            <a:ext cx="5349240" cy="3246120"/>
          </a:xfrm>
          <a:prstGeom prst="roundRect">
            <a:avLst>
              <a:gd fmla="val 2254"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96" name="Google Shape;296;p14"/>
          <p:cNvSpPr/>
          <p:nvPr/>
        </p:nvSpPr>
        <p:spPr>
          <a:xfrm>
            <a:off x="6309360" y="1371600"/>
            <a:ext cx="5349240" cy="457200"/>
          </a:xfrm>
          <a:prstGeom prst="roundRect">
            <a:avLst>
              <a:gd fmla="val 16000"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97" name="Google Shape;297;p14"/>
          <p:cNvSpPr/>
          <p:nvPr/>
        </p:nvSpPr>
        <p:spPr>
          <a:xfrm>
            <a:off x="6309360" y="1600200"/>
            <a:ext cx="5349240" cy="228600"/>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98" name="Google Shape;298;p14"/>
          <p:cNvSpPr/>
          <p:nvPr/>
        </p:nvSpPr>
        <p:spPr>
          <a:xfrm>
            <a:off x="6446520" y="1371600"/>
            <a:ext cx="50749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Why this gap is a fairness concern</a:t>
            </a:r>
            <a:endParaRPr i="0" sz="1300" u="none" cap="none" strike="noStrike">
              <a:solidFill>
                <a:schemeClr val="dk1"/>
              </a:solidFill>
              <a:latin typeface="Times New Roman"/>
              <a:ea typeface="Times New Roman"/>
              <a:cs typeface="Times New Roman"/>
              <a:sym typeface="Times New Roman"/>
            </a:endParaRPr>
          </a:p>
        </p:txBody>
      </p:sp>
      <p:sp>
        <p:nvSpPr>
          <p:cNvPr id="299" name="Google Shape;299;p14"/>
          <p:cNvSpPr/>
          <p:nvPr/>
        </p:nvSpPr>
        <p:spPr>
          <a:xfrm>
            <a:off x="6473952" y="1938528"/>
            <a:ext cx="5020056" cy="256032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Rural households are already documented as more food insecure nationally</a:t>
            </a:r>
            <a:r>
              <a:rPr lang="en-US" sz="1600">
                <a:solidFill>
                  <a:schemeClr val="dk1"/>
                </a:solidFill>
                <a:latin typeface="Times New Roman"/>
                <a:ea typeface="Times New Roman"/>
                <a:cs typeface="Times New Roman"/>
                <a:sym typeface="Times New Roman"/>
              </a:rPr>
              <a:t>. </a:t>
            </a:r>
            <a:r>
              <a:rPr i="0" lang="en-US" sz="1600" u="none" cap="none" strike="noStrike">
                <a:solidFill>
                  <a:schemeClr val="dk1"/>
                </a:solidFill>
                <a:latin typeface="Times New Roman"/>
                <a:ea typeface="Times New Roman"/>
                <a:cs typeface="Times New Roman"/>
                <a:sym typeface="Times New Roman"/>
              </a:rPr>
              <a:t>World Bank RRPS finds 48% of rural households went hungry vs 34% urban</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A model with lower recall precisely where insecurity is worse compounds an existing gap rather than correcting for it</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El Niño</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s rural-heavy risk counties (drought, livestock loss) make this gap operationally and stat</a:t>
            </a:r>
            <a:r>
              <a:rPr lang="en-US" sz="1600">
                <a:solidFill>
                  <a:schemeClr val="dk1"/>
                </a:solidFill>
                <a:latin typeface="Times New Roman"/>
                <a:ea typeface="Times New Roman"/>
                <a:cs typeface="Times New Roman"/>
                <a:sym typeface="Times New Roman"/>
              </a:rPr>
              <a:t>istically </a:t>
            </a:r>
            <a:r>
              <a:rPr i="0" lang="en-US" sz="1600" u="none" cap="none" strike="noStrike">
                <a:solidFill>
                  <a:schemeClr val="dk1"/>
                </a:solidFill>
                <a:latin typeface="Times New Roman"/>
                <a:ea typeface="Times New Roman"/>
                <a:cs typeface="Times New Roman"/>
                <a:sym typeface="Times New Roman"/>
              </a:rPr>
              <a:t>significant</a:t>
            </a:r>
            <a:endParaRPr i="0" sz="1600" u="none" cap="none" strike="noStrike">
              <a:solidFill>
                <a:schemeClr val="dk1"/>
              </a:solidFill>
              <a:latin typeface="Times New Roman"/>
              <a:ea typeface="Times New Roman"/>
              <a:cs typeface="Times New Roman"/>
              <a:sym typeface="Times New Roman"/>
            </a:endParaRPr>
          </a:p>
        </p:txBody>
      </p:sp>
      <p:sp>
        <p:nvSpPr>
          <p:cNvPr id="300" name="Google Shape;300;p14"/>
          <p:cNvSpPr/>
          <p:nvPr/>
        </p:nvSpPr>
        <p:spPr>
          <a:xfrm>
            <a:off x="548640" y="4892040"/>
            <a:ext cx="11109960" cy="1143000"/>
          </a:xfrm>
          <a:prstGeom prst="roundRect">
            <a:avLst>
              <a:gd fmla="val 6400"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01" name="Google Shape;301;p14"/>
          <p:cNvSpPr/>
          <p:nvPr/>
        </p:nvSpPr>
        <p:spPr>
          <a:xfrm>
            <a:off x="822960" y="5029200"/>
            <a:ext cx="105156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250"/>
              <a:buFont typeface="Calibri"/>
              <a:buNone/>
            </a:pPr>
            <a:r>
              <a:rPr i="1" lang="en-US" sz="1250" u="none" cap="none" strike="noStrike">
                <a:solidFill>
                  <a:srgbClr val="1E2761"/>
                </a:solidFill>
                <a:latin typeface="Times New Roman"/>
                <a:ea typeface="Times New Roman"/>
                <a:cs typeface="Times New Roman"/>
                <a:sym typeface="Times New Roman"/>
              </a:rPr>
              <a:t>Fairness criterion applied: Equal Opportunity — among truly severely-insecure households, the model should identify an equal share regardless of urban/rural status. By this standard it currently falls short (58.1% urban vs 45.9% rural severe-class recall).</a:t>
            </a:r>
            <a:endParaRPr i="0" sz="1250" u="none" cap="none" strike="noStrike">
              <a:solidFill>
                <a:schemeClr val="dk1"/>
              </a:solidFill>
              <a:latin typeface="Times New Roman"/>
              <a:ea typeface="Times New Roman"/>
              <a:cs typeface="Times New Roman"/>
              <a:sym typeface="Times New Roman"/>
            </a:endParaRPr>
          </a:p>
        </p:txBody>
      </p:sp>
      <p:sp>
        <p:nvSpPr>
          <p:cNvPr id="302" name="Google Shape;302;p14"/>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303" name="Google Shape;303;p14"/>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14</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 name="Shape 308"/>
        <p:cNvGrpSpPr/>
        <p:nvPr/>
      </p:nvGrpSpPr>
      <p:grpSpPr>
        <a:xfrm>
          <a:off x="0" y="0"/>
          <a:ext cx="0" cy="0"/>
          <a:chOff x="0" y="0"/>
          <a:chExt cx="0" cy="0"/>
        </a:xfrm>
      </p:grpSpPr>
      <p:sp>
        <p:nvSpPr>
          <p:cNvPr id="309" name="Google Shape;309;p15"/>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0392B"/>
              </a:buClr>
              <a:buSzPts val="1200"/>
              <a:buFont typeface="Calibri"/>
              <a:buNone/>
            </a:pPr>
            <a:r>
              <a:rPr b="1" lang="en-US" sz="3000">
                <a:solidFill>
                  <a:srgbClr val="C0392B"/>
                </a:solidFill>
                <a:latin typeface="Times New Roman"/>
                <a:ea typeface="Times New Roman"/>
                <a:cs typeface="Times New Roman"/>
                <a:sym typeface="Times New Roman"/>
              </a:rPr>
              <a:t>Key Finding</a:t>
            </a:r>
            <a:endParaRPr sz="3000">
              <a:solidFill>
                <a:schemeClr val="dk1"/>
              </a:solidFill>
              <a:latin typeface="Times New Roman"/>
              <a:ea typeface="Times New Roman"/>
              <a:cs typeface="Times New Roman"/>
              <a:sym typeface="Times New Roman"/>
            </a:endParaRPr>
          </a:p>
        </p:txBody>
      </p:sp>
      <p:sp>
        <p:nvSpPr>
          <p:cNvPr id="310" name="Google Shape;310;p15"/>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The Most Food-Insecure Counties Are the El Niño Risk Counties</a:t>
            </a:r>
            <a:endParaRPr i="0" sz="3000" u="none" cap="none" strike="noStrike">
              <a:solidFill>
                <a:schemeClr val="dk1"/>
              </a:solidFill>
              <a:latin typeface="Times New Roman"/>
              <a:ea typeface="Times New Roman"/>
              <a:cs typeface="Times New Roman"/>
              <a:sym typeface="Times New Roman"/>
            </a:endParaRPr>
          </a:p>
        </p:txBody>
      </p:sp>
      <p:pic>
        <p:nvPicPr>
          <p:cNvPr descr="/home/claude/charts/county_severity_clean.png" id="311" name="Google Shape;311;p15"/>
          <p:cNvPicPr preferRelativeResize="0"/>
          <p:nvPr/>
        </p:nvPicPr>
        <p:blipFill rotWithShape="1">
          <a:blip r:embed="rId3">
            <a:alphaModFix/>
          </a:blip>
          <a:srcRect b="0" l="0" r="0" t="0"/>
          <a:stretch/>
        </p:blipFill>
        <p:spPr>
          <a:xfrm>
            <a:off x="365760" y="1188720"/>
            <a:ext cx="6766560" cy="4892040"/>
          </a:xfrm>
          <a:prstGeom prst="rect">
            <a:avLst/>
          </a:prstGeom>
          <a:noFill/>
          <a:ln>
            <a:noFill/>
          </a:ln>
        </p:spPr>
      </p:pic>
      <p:sp>
        <p:nvSpPr>
          <p:cNvPr id="312" name="Google Shape;312;p15"/>
          <p:cNvSpPr/>
          <p:nvPr/>
        </p:nvSpPr>
        <p:spPr>
          <a:xfrm>
            <a:off x="7315200" y="1188720"/>
            <a:ext cx="4343400" cy="2743200"/>
          </a:xfrm>
          <a:prstGeom prst="roundRect">
            <a:avLst>
              <a:gd fmla="val 2667"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13" name="Google Shape;313;p15"/>
          <p:cNvSpPr/>
          <p:nvPr/>
        </p:nvSpPr>
        <p:spPr>
          <a:xfrm>
            <a:off x="7315200" y="1188720"/>
            <a:ext cx="4343400" cy="457200"/>
          </a:xfrm>
          <a:prstGeom prst="roundRect">
            <a:avLst>
              <a:gd fmla="val 16000" name="adj"/>
            </a:avLst>
          </a:prstGeom>
          <a:solidFill>
            <a:srgbClr val="6E1F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14" name="Google Shape;314;p15"/>
          <p:cNvSpPr/>
          <p:nvPr/>
        </p:nvSpPr>
        <p:spPr>
          <a:xfrm>
            <a:off x="7315200" y="1417320"/>
            <a:ext cx="4343400" cy="228600"/>
          </a:xfrm>
          <a:prstGeom prst="rect">
            <a:avLst/>
          </a:prstGeom>
          <a:solidFill>
            <a:srgbClr val="6E1F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15" name="Google Shape;315;p15"/>
          <p:cNvSpPr/>
          <p:nvPr/>
        </p:nvSpPr>
        <p:spPr>
          <a:xfrm>
            <a:off x="7452360" y="1188720"/>
            <a:ext cx="40690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7 of 10 also on NDOC's list</a:t>
            </a:r>
            <a:endParaRPr i="0" sz="1300" u="none" cap="none" strike="noStrike">
              <a:solidFill>
                <a:schemeClr val="dk1"/>
              </a:solidFill>
              <a:latin typeface="Times New Roman"/>
              <a:ea typeface="Times New Roman"/>
              <a:cs typeface="Times New Roman"/>
              <a:sym typeface="Times New Roman"/>
            </a:endParaRPr>
          </a:p>
        </p:txBody>
      </p:sp>
      <p:sp>
        <p:nvSpPr>
          <p:cNvPr id="316" name="Google Shape;316;p15"/>
          <p:cNvSpPr/>
          <p:nvPr/>
        </p:nvSpPr>
        <p:spPr>
          <a:xfrm>
            <a:off x="7479792" y="1755648"/>
            <a:ext cx="4014216" cy="205740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Tana River, Turkana, Kilifi, Busia, Kisumu, Garissa and Migori all independently appear on Kenya</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s official El Niño high-risk county list</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This model was trained on 2020</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21 COVID-shock data, yet it converges with an unrelated 2026 climate-risk assessment</a:t>
            </a:r>
            <a:endParaRPr i="0" sz="1600" u="none" cap="none" strike="noStrike">
              <a:solidFill>
                <a:schemeClr val="dk1"/>
              </a:solidFill>
              <a:latin typeface="Times New Roman"/>
              <a:ea typeface="Times New Roman"/>
              <a:cs typeface="Times New Roman"/>
              <a:sym typeface="Times New Roman"/>
            </a:endParaRPr>
          </a:p>
        </p:txBody>
      </p:sp>
      <p:sp>
        <p:nvSpPr>
          <p:cNvPr id="317" name="Google Shape;317;p15"/>
          <p:cNvSpPr/>
          <p:nvPr/>
        </p:nvSpPr>
        <p:spPr>
          <a:xfrm>
            <a:off x="7315200" y="4069080"/>
            <a:ext cx="4343400" cy="1965960"/>
          </a:xfrm>
          <a:prstGeom prst="roundRect">
            <a:avLst>
              <a:gd fmla="val 3721"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18" name="Google Shape;318;p15"/>
          <p:cNvSpPr/>
          <p:nvPr/>
        </p:nvSpPr>
        <p:spPr>
          <a:xfrm>
            <a:off x="7543800" y="4206240"/>
            <a:ext cx="3931920" cy="173736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CADCFC"/>
              </a:buClr>
              <a:buSzPts val="1200"/>
              <a:buFont typeface="Calibri"/>
              <a:buNone/>
            </a:pPr>
            <a:r>
              <a:rPr i="0" lang="en-US" sz="1200" u="none" cap="none" strike="noStrike">
                <a:solidFill>
                  <a:srgbClr val="CADCFC"/>
                </a:solidFill>
                <a:latin typeface="Times New Roman"/>
                <a:ea typeface="Times New Roman"/>
                <a:cs typeface="Times New Roman"/>
                <a:sym typeface="Times New Roman"/>
              </a:rPr>
              <a:t>This convergence is not proof the model is causally correct but it is a strong external signal that structural poverty markers (housing, assets, livelihoods) predict the same households at risk from economic shocks and climate shocks alike.</a:t>
            </a:r>
            <a:endParaRPr i="0" sz="1200" u="none" cap="none" strike="noStrike">
              <a:solidFill>
                <a:schemeClr val="dk1"/>
              </a:solidFill>
              <a:latin typeface="Times New Roman"/>
              <a:ea typeface="Times New Roman"/>
              <a:cs typeface="Times New Roman"/>
              <a:sym typeface="Times New Roman"/>
            </a:endParaRPr>
          </a:p>
        </p:txBody>
      </p:sp>
      <p:sp>
        <p:nvSpPr>
          <p:cNvPr id="319" name="Google Shape;319;p15"/>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320" name="Google Shape;320;p15"/>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15</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16"/>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Engineering</a:t>
            </a:r>
            <a:endParaRPr i="0" sz="3000" u="none" cap="none" strike="noStrike">
              <a:solidFill>
                <a:schemeClr val="dk1"/>
              </a:solidFill>
              <a:latin typeface="Times New Roman"/>
              <a:ea typeface="Times New Roman"/>
              <a:cs typeface="Times New Roman"/>
              <a:sym typeface="Times New Roman"/>
            </a:endParaRPr>
          </a:p>
        </p:txBody>
      </p:sp>
      <p:sp>
        <p:nvSpPr>
          <p:cNvPr id="327" name="Google Shape;327;p16"/>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From Notebook to a Live Screening Tool</a:t>
            </a:r>
            <a:endParaRPr i="0" sz="3000" u="none" cap="none" strike="noStrike">
              <a:solidFill>
                <a:schemeClr val="dk1"/>
              </a:solidFill>
              <a:latin typeface="Times New Roman"/>
              <a:ea typeface="Times New Roman"/>
              <a:cs typeface="Times New Roman"/>
              <a:sym typeface="Times New Roman"/>
            </a:endParaRPr>
          </a:p>
        </p:txBody>
      </p:sp>
      <p:sp>
        <p:nvSpPr>
          <p:cNvPr id="328" name="Google Shape;328;p16"/>
          <p:cNvSpPr/>
          <p:nvPr/>
        </p:nvSpPr>
        <p:spPr>
          <a:xfrm>
            <a:off x="548640" y="1463040"/>
            <a:ext cx="2606040" cy="548640"/>
          </a:xfrm>
          <a:prstGeom prst="roundRect">
            <a:avLst>
              <a:gd fmla="val 50000" name="adj"/>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29" name="Google Shape;329;p16"/>
          <p:cNvSpPr/>
          <p:nvPr/>
        </p:nvSpPr>
        <p:spPr>
          <a:xfrm>
            <a:off x="548640" y="1463040"/>
            <a:ext cx="26060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Times New Roman"/>
                <a:ea typeface="Times New Roman"/>
                <a:cs typeface="Times New Roman"/>
                <a:sym typeface="Times New Roman"/>
              </a:rPr>
              <a:t>1</a:t>
            </a:r>
            <a:endParaRPr i="0" sz="2000" u="none" cap="none" strike="noStrike">
              <a:solidFill>
                <a:schemeClr val="dk1"/>
              </a:solidFill>
              <a:latin typeface="Times New Roman"/>
              <a:ea typeface="Times New Roman"/>
              <a:cs typeface="Times New Roman"/>
              <a:sym typeface="Times New Roman"/>
            </a:endParaRPr>
          </a:p>
        </p:txBody>
      </p:sp>
      <p:sp>
        <p:nvSpPr>
          <p:cNvPr id="330" name="Google Shape;330;p16"/>
          <p:cNvSpPr/>
          <p:nvPr/>
        </p:nvSpPr>
        <p:spPr>
          <a:xfrm>
            <a:off x="548640" y="2148840"/>
            <a:ext cx="2606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Times New Roman"/>
                <a:ea typeface="Times New Roman"/>
                <a:cs typeface="Times New Roman"/>
                <a:sym typeface="Times New Roman"/>
              </a:rPr>
              <a:t>Train </a:t>
            </a:r>
            <a:r>
              <a:rPr b="1" lang="en-US" sz="1350">
                <a:solidFill>
                  <a:srgbClr val="1E2761"/>
                </a:solidFill>
                <a:latin typeface="Times New Roman"/>
                <a:ea typeface="Times New Roman"/>
                <a:cs typeface="Times New Roman"/>
                <a:sym typeface="Times New Roman"/>
              </a:rPr>
              <a:t>and</a:t>
            </a:r>
            <a:r>
              <a:rPr b="1" i="0" lang="en-US" sz="1350" u="none" cap="none" strike="noStrike">
                <a:solidFill>
                  <a:srgbClr val="1E2761"/>
                </a:solidFill>
                <a:latin typeface="Times New Roman"/>
                <a:ea typeface="Times New Roman"/>
                <a:cs typeface="Times New Roman"/>
                <a:sym typeface="Times New Roman"/>
              </a:rPr>
              <a:t> Serialize</a:t>
            </a:r>
            <a:endParaRPr i="0" sz="1350" u="none" cap="none" strike="noStrike">
              <a:solidFill>
                <a:schemeClr val="dk1"/>
              </a:solidFill>
              <a:latin typeface="Times New Roman"/>
              <a:ea typeface="Times New Roman"/>
              <a:cs typeface="Times New Roman"/>
              <a:sym typeface="Times New Roman"/>
            </a:endParaRPr>
          </a:p>
        </p:txBody>
      </p:sp>
      <p:sp>
        <p:nvSpPr>
          <p:cNvPr id="331" name="Google Shape;331;p16"/>
          <p:cNvSpPr/>
          <p:nvPr/>
        </p:nvSpPr>
        <p:spPr>
          <a:xfrm>
            <a:off x="548640" y="2606040"/>
            <a:ext cx="2606040" cy="1920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i="0" lang="en-US" sz="1600" u="none" cap="none" strike="noStrike">
                <a:solidFill>
                  <a:schemeClr val="dk1"/>
                </a:solidFill>
                <a:latin typeface="Times New Roman"/>
                <a:ea typeface="Times New Roman"/>
                <a:cs typeface="Times New Roman"/>
                <a:sym typeface="Times New Roman"/>
              </a:rPr>
              <a:t>XGBoost model, encoders, and county rate map bundled into a single artifact (pickle)</a:t>
            </a:r>
            <a:endParaRPr i="0" sz="1600" u="none" cap="none" strike="noStrike">
              <a:solidFill>
                <a:schemeClr val="dk1"/>
              </a:solidFill>
              <a:latin typeface="Times New Roman"/>
              <a:ea typeface="Times New Roman"/>
              <a:cs typeface="Times New Roman"/>
              <a:sym typeface="Times New Roman"/>
            </a:endParaRPr>
          </a:p>
        </p:txBody>
      </p:sp>
      <p:sp>
        <p:nvSpPr>
          <p:cNvPr id="332" name="Google Shape;332;p16"/>
          <p:cNvSpPr/>
          <p:nvPr/>
        </p:nvSpPr>
        <p:spPr>
          <a:xfrm>
            <a:off x="3172968" y="1417320"/>
            <a:ext cx="2286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4E6EF"/>
              </a:buClr>
              <a:buSzPts val="2000"/>
              <a:buFont typeface="Calibri"/>
              <a:buNone/>
            </a:pPr>
            <a:r>
              <a:rPr i="0" lang="en-US" sz="2000" u="none" cap="none" strike="noStrike">
                <a:solidFill>
                  <a:srgbClr val="E4E6EF"/>
                </a:solidFill>
                <a:latin typeface="Times New Roman"/>
                <a:ea typeface="Times New Roman"/>
                <a:cs typeface="Times New Roman"/>
                <a:sym typeface="Times New Roman"/>
              </a:rPr>
              <a:t>→</a:t>
            </a:r>
            <a:endParaRPr i="0" sz="2000" u="none" cap="none" strike="noStrike">
              <a:solidFill>
                <a:schemeClr val="dk1"/>
              </a:solidFill>
              <a:latin typeface="Times New Roman"/>
              <a:ea typeface="Times New Roman"/>
              <a:cs typeface="Times New Roman"/>
              <a:sym typeface="Times New Roman"/>
            </a:endParaRPr>
          </a:p>
        </p:txBody>
      </p:sp>
      <p:sp>
        <p:nvSpPr>
          <p:cNvPr id="333" name="Google Shape;333;p16"/>
          <p:cNvSpPr/>
          <p:nvPr/>
        </p:nvSpPr>
        <p:spPr>
          <a:xfrm>
            <a:off x="3383280" y="1463040"/>
            <a:ext cx="2606040" cy="548640"/>
          </a:xfrm>
          <a:prstGeom prst="roundRect">
            <a:avLst>
              <a:gd fmla="val 50000" name="adj"/>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34" name="Google Shape;334;p16"/>
          <p:cNvSpPr/>
          <p:nvPr/>
        </p:nvSpPr>
        <p:spPr>
          <a:xfrm>
            <a:off x="3383280" y="1463040"/>
            <a:ext cx="26060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Times New Roman"/>
                <a:ea typeface="Times New Roman"/>
                <a:cs typeface="Times New Roman"/>
                <a:sym typeface="Times New Roman"/>
              </a:rPr>
              <a:t>2</a:t>
            </a:r>
            <a:endParaRPr i="0" sz="2000" u="none" cap="none" strike="noStrike">
              <a:solidFill>
                <a:schemeClr val="dk1"/>
              </a:solidFill>
              <a:latin typeface="Times New Roman"/>
              <a:ea typeface="Times New Roman"/>
              <a:cs typeface="Times New Roman"/>
              <a:sym typeface="Times New Roman"/>
            </a:endParaRPr>
          </a:p>
        </p:txBody>
      </p:sp>
      <p:sp>
        <p:nvSpPr>
          <p:cNvPr id="335" name="Google Shape;335;p16"/>
          <p:cNvSpPr/>
          <p:nvPr/>
        </p:nvSpPr>
        <p:spPr>
          <a:xfrm>
            <a:off x="3383280" y="2148840"/>
            <a:ext cx="2606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Times New Roman"/>
                <a:ea typeface="Times New Roman"/>
                <a:cs typeface="Times New Roman"/>
                <a:sym typeface="Times New Roman"/>
              </a:rPr>
              <a:t>FastAPI Backend</a:t>
            </a:r>
            <a:endParaRPr i="0" sz="1350" u="none" cap="none" strike="noStrike">
              <a:solidFill>
                <a:schemeClr val="dk1"/>
              </a:solidFill>
              <a:latin typeface="Times New Roman"/>
              <a:ea typeface="Times New Roman"/>
              <a:cs typeface="Times New Roman"/>
              <a:sym typeface="Times New Roman"/>
            </a:endParaRPr>
          </a:p>
        </p:txBody>
      </p:sp>
      <p:sp>
        <p:nvSpPr>
          <p:cNvPr id="336" name="Google Shape;336;p16"/>
          <p:cNvSpPr/>
          <p:nvPr/>
        </p:nvSpPr>
        <p:spPr>
          <a:xfrm>
            <a:off x="3383280" y="2606040"/>
            <a:ext cx="2606040" cy="1920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i="0" lang="en-US" sz="1600" u="none" cap="none" strike="noStrike">
                <a:solidFill>
                  <a:schemeClr val="dk1"/>
                </a:solidFill>
                <a:latin typeface="Times New Roman"/>
                <a:ea typeface="Times New Roman"/>
                <a:cs typeface="Times New Roman"/>
                <a:sym typeface="Times New Roman"/>
              </a:rPr>
              <a:t>preprocess_new_household() mirrors the notebook</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s feature engineering exactly, for one household or a bulk CSV</a:t>
            </a:r>
            <a:endParaRPr i="0" sz="1600" u="none" cap="none" strike="noStrike">
              <a:solidFill>
                <a:schemeClr val="dk1"/>
              </a:solidFill>
              <a:latin typeface="Times New Roman"/>
              <a:ea typeface="Times New Roman"/>
              <a:cs typeface="Times New Roman"/>
              <a:sym typeface="Times New Roman"/>
            </a:endParaRPr>
          </a:p>
        </p:txBody>
      </p:sp>
      <p:sp>
        <p:nvSpPr>
          <p:cNvPr id="337" name="Google Shape;337;p16"/>
          <p:cNvSpPr/>
          <p:nvPr/>
        </p:nvSpPr>
        <p:spPr>
          <a:xfrm>
            <a:off x="6007608" y="1417320"/>
            <a:ext cx="2286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4E6EF"/>
              </a:buClr>
              <a:buSzPts val="2000"/>
              <a:buFont typeface="Calibri"/>
              <a:buNone/>
            </a:pPr>
            <a:r>
              <a:rPr i="0" lang="en-US" sz="2000" u="none" cap="none" strike="noStrike">
                <a:solidFill>
                  <a:srgbClr val="E4E6EF"/>
                </a:solidFill>
                <a:latin typeface="Times New Roman"/>
                <a:ea typeface="Times New Roman"/>
                <a:cs typeface="Times New Roman"/>
                <a:sym typeface="Times New Roman"/>
              </a:rPr>
              <a:t>→</a:t>
            </a:r>
            <a:endParaRPr i="0" sz="2000" u="none" cap="none" strike="noStrike">
              <a:solidFill>
                <a:schemeClr val="dk1"/>
              </a:solidFill>
              <a:latin typeface="Times New Roman"/>
              <a:ea typeface="Times New Roman"/>
              <a:cs typeface="Times New Roman"/>
              <a:sym typeface="Times New Roman"/>
            </a:endParaRPr>
          </a:p>
        </p:txBody>
      </p:sp>
      <p:sp>
        <p:nvSpPr>
          <p:cNvPr id="338" name="Google Shape;338;p16"/>
          <p:cNvSpPr/>
          <p:nvPr/>
        </p:nvSpPr>
        <p:spPr>
          <a:xfrm>
            <a:off x="6217920" y="1463040"/>
            <a:ext cx="2606040" cy="548640"/>
          </a:xfrm>
          <a:prstGeom prst="roundRect">
            <a:avLst>
              <a:gd fmla="val 50000" name="adj"/>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39" name="Google Shape;339;p16"/>
          <p:cNvSpPr/>
          <p:nvPr/>
        </p:nvSpPr>
        <p:spPr>
          <a:xfrm>
            <a:off x="6217920" y="1463040"/>
            <a:ext cx="26060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Times New Roman"/>
                <a:ea typeface="Times New Roman"/>
                <a:cs typeface="Times New Roman"/>
                <a:sym typeface="Times New Roman"/>
              </a:rPr>
              <a:t>3</a:t>
            </a:r>
            <a:endParaRPr i="0" sz="2000" u="none" cap="none" strike="noStrike">
              <a:solidFill>
                <a:schemeClr val="dk1"/>
              </a:solidFill>
              <a:latin typeface="Times New Roman"/>
              <a:ea typeface="Times New Roman"/>
              <a:cs typeface="Times New Roman"/>
              <a:sym typeface="Times New Roman"/>
            </a:endParaRPr>
          </a:p>
        </p:txBody>
      </p:sp>
      <p:sp>
        <p:nvSpPr>
          <p:cNvPr id="340" name="Google Shape;340;p16"/>
          <p:cNvSpPr/>
          <p:nvPr/>
        </p:nvSpPr>
        <p:spPr>
          <a:xfrm>
            <a:off x="6217920" y="2148840"/>
            <a:ext cx="2606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Times New Roman"/>
                <a:ea typeface="Times New Roman"/>
                <a:cs typeface="Times New Roman"/>
                <a:sym typeface="Times New Roman"/>
              </a:rPr>
              <a:t>Deploy on Render</a:t>
            </a:r>
            <a:endParaRPr i="0" sz="1350" u="none" cap="none" strike="noStrike">
              <a:solidFill>
                <a:schemeClr val="dk1"/>
              </a:solidFill>
              <a:latin typeface="Times New Roman"/>
              <a:ea typeface="Times New Roman"/>
              <a:cs typeface="Times New Roman"/>
              <a:sym typeface="Times New Roman"/>
            </a:endParaRPr>
          </a:p>
        </p:txBody>
      </p:sp>
      <p:sp>
        <p:nvSpPr>
          <p:cNvPr id="341" name="Google Shape;341;p16"/>
          <p:cNvSpPr/>
          <p:nvPr/>
        </p:nvSpPr>
        <p:spPr>
          <a:xfrm>
            <a:off x="6217920" y="2606040"/>
            <a:ext cx="2606040" cy="1920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i="0" lang="en-US" sz="1600" u="none" cap="none" strike="noStrike">
                <a:solidFill>
                  <a:schemeClr val="dk1"/>
                </a:solidFill>
                <a:latin typeface="Times New Roman"/>
                <a:ea typeface="Times New Roman"/>
                <a:cs typeface="Times New Roman"/>
                <a:sym typeface="Times New Roman"/>
              </a:rPr>
              <a:t>Python 3.12 web service, auto-deployed from GitHub on every commit</a:t>
            </a:r>
            <a:endParaRPr i="0" sz="1600" u="none" cap="none" strike="noStrike">
              <a:solidFill>
                <a:schemeClr val="dk1"/>
              </a:solidFill>
              <a:latin typeface="Times New Roman"/>
              <a:ea typeface="Times New Roman"/>
              <a:cs typeface="Times New Roman"/>
              <a:sym typeface="Times New Roman"/>
            </a:endParaRPr>
          </a:p>
        </p:txBody>
      </p:sp>
      <p:sp>
        <p:nvSpPr>
          <p:cNvPr id="342" name="Google Shape;342;p16"/>
          <p:cNvSpPr/>
          <p:nvPr/>
        </p:nvSpPr>
        <p:spPr>
          <a:xfrm>
            <a:off x="8842248" y="1417320"/>
            <a:ext cx="2286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4E6EF"/>
              </a:buClr>
              <a:buSzPts val="2000"/>
              <a:buFont typeface="Calibri"/>
              <a:buNone/>
            </a:pPr>
            <a:r>
              <a:rPr i="0" lang="en-US" sz="2000" u="none" cap="none" strike="noStrike">
                <a:solidFill>
                  <a:srgbClr val="E4E6EF"/>
                </a:solidFill>
                <a:latin typeface="Times New Roman"/>
                <a:ea typeface="Times New Roman"/>
                <a:cs typeface="Times New Roman"/>
                <a:sym typeface="Times New Roman"/>
              </a:rPr>
              <a:t>→</a:t>
            </a:r>
            <a:endParaRPr i="0" sz="2000" u="none" cap="none" strike="noStrike">
              <a:solidFill>
                <a:schemeClr val="dk1"/>
              </a:solidFill>
              <a:latin typeface="Times New Roman"/>
              <a:ea typeface="Times New Roman"/>
              <a:cs typeface="Times New Roman"/>
              <a:sym typeface="Times New Roman"/>
            </a:endParaRPr>
          </a:p>
        </p:txBody>
      </p:sp>
      <p:sp>
        <p:nvSpPr>
          <p:cNvPr id="343" name="Google Shape;343;p16"/>
          <p:cNvSpPr/>
          <p:nvPr/>
        </p:nvSpPr>
        <p:spPr>
          <a:xfrm>
            <a:off x="9052560" y="1463040"/>
            <a:ext cx="2606040" cy="548640"/>
          </a:xfrm>
          <a:prstGeom prst="roundRect">
            <a:avLst>
              <a:gd fmla="val 50000" name="adj"/>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44" name="Google Shape;344;p16"/>
          <p:cNvSpPr/>
          <p:nvPr/>
        </p:nvSpPr>
        <p:spPr>
          <a:xfrm>
            <a:off x="9052560" y="1463040"/>
            <a:ext cx="26060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Times New Roman"/>
                <a:ea typeface="Times New Roman"/>
                <a:cs typeface="Times New Roman"/>
                <a:sym typeface="Times New Roman"/>
              </a:rPr>
              <a:t>4</a:t>
            </a:r>
            <a:endParaRPr i="0" sz="2000" u="none" cap="none" strike="noStrike">
              <a:solidFill>
                <a:schemeClr val="dk1"/>
              </a:solidFill>
              <a:latin typeface="Times New Roman"/>
              <a:ea typeface="Times New Roman"/>
              <a:cs typeface="Times New Roman"/>
              <a:sym typeface="Times New Roman"/>
            </a:endParaRPr>
          </a:p>
        </p:txBody>
      </p:sp>
      <p:sp>
        <p:nvSpPr>
          <p:cNvPr id="345" name="Google Shape;345;p16"/>
          <p:cNvSpPr/>
          <p:nvPr/>
        </p:nvSpPr>
        <p:spPr>
          <a:xfrm>
            <a:off x="9052560" y="2148840"/>
            <a:ext cx="2606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50"/>
              <a:buFont typeface="Calibri"/>
              <a:buNone/>
            </a:pPr>
            <a:r>
              <a:rPr b="1" i="0" lang="en-US" sz="1350" u="none" cap="none" strike="noStrike">
                <a:solidFill>
                  <a:srgbClr val="1E2761"/>
                </a:solidFill>
                <a:latin typeface="Times New Roman"/>
                <a:ea typeface="Times New Roman"/>
                <a:cs typeface="Times New Roman"/>
                <a:sym typeface="Times New Roman"/>
              </a:rPr>
              <a:t>Caseworker Form</a:t>
            </a:r>
            <a:endParaRPr i="0" sz="1350" u="none" cap="none" strike="noStrike">
              <a:solidFill>
                <a:schemeClr val="dk1"/>
              </a:solidFill>
              <a:latin typeface="Times New Roman"/>
              <a:ea typeface="Times New Roman"/>
              <a:cs typeface="Times New Roman"/>
              <a:sym typeface="Times New Roman"/>
            </a:endParaRPr>
          </a:p>
        </p:txBody>
      </p:sp>
      <p:sp>
        <p:nvSpPr>
          <p:cNvPr id="346" name="Google Shape;346;p16"/>
          <p:cNvSpPr/>
          <p:nvPr/>
        </p:nvSpPr>
        <p:spPr>
          <a:xfrm>
            <a:off x="9052560" y="2606040"/>
            <a:ext cx="2606040" cy="1920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i="0" lang="en-US" sz="1600" u="none" cap="none" strike="noStrike">
                <a:solidFill>
                  <a:schemeClr val="dk1"/>
                </a:solidFill>
                <a:latin typeface="Times New Roman"/>
                <a:ea typeface="Times New Roman"/>
                <a:cs typeface="Times New Roman"/>
                <a:sym typeface="Times New Roman"/>
              </a:rPr>
              <a:t>All ~6</a:t>
            </a:r>
            <a:r>
              <a:rPr lang="en-US" sz="1600">
                <a:solidFill>
                  <a:schemeClr val="dk1"/>
                </a:solidFill>
                <a:latin typeface="Times New Roman"/>
                <a:ea typeface="Times New Roman"/>
                <a:cs typeface="Times New Roman"/>
                <a:sym typeface="Times New Roman"/>
              </a:rPr>
              <a:t>8</a:t>
            </a:r>
            <a:r>
              <a:rPr i="0" lang="en-US" sz="1600" u="none" cap="none" strike="noStrike">
                <a:solidFill>
                  <a:schemeClr val="dk1"/>
                </a:solidFill>
                <a:latin typeface="Times New Roman"/>
                <a:ea typeface="Times New Roman"/>
                <a:cs typeface="Times New Roman"/>
                <a:sym typeface="Times New Roman"/>
              </a:rPr>
              <a:t> model inputs exposed as a plain-language web form, with dropdowns matched to real survey codes</a:t>
            </a:r>
            <a:endParaRPr i="0" sz="1600" u="none" cap="none" strike="noStrike">
              <a:solidFill>
                <a:schemeClr val="dk1"/>
              </a:solidFill>
              <a:latin typeface="Times New Roman"/>
              <a:ea typeface="Times New Roman"/>
              <a:cs typeface="Times New Roman"/>
              <a:sym typeface="Times New Roman"/>
            </a:endParaRPr>
          </a:p>
        </p:txBody>
      </p:sp>
      <p:sp>
        <p:nvSpPr>
          <p:cNvPr id="347" name="Google Shape;347;p16"/>
          <p:cNvSpPr/>
          <p:nvPr/>
        </p:nvSpPr>
        <p:spPr>
          <a:xfrm>
            <a:off x="548640" y="4754880"/>
            <a:ext cx="11064240" cy="1280160"/>
          </a:xfrm>
          <a:prstGeom prst="roundRect">
            <a:avLst>
              <a:gd fmla="val 5714"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48" name="Google Shape;348;p16"/>
          <p:cNvSpPr/>
          <p:nvPr/>
        </p:nvSpPr>
        <p:spPr>
          <a:xfrm>
            <a:off x="822960" y="4937760"/>
            <a:ext cx="105156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i="0" lang="en-US" sz="1600" u="none" cap="none" strike="noStrike">
                <a:solidFill>
                  <a:srgbClr val="1E2761"/>
                </a:solidFill>
                <a:latin typeface="Times New Roman"/>
                <a:ea typeface="Times New Roman"/>
                <a:cs typeface="Times New Roman"/>
                <a:sym typeface="Times New Roman"/>
              </a:rPr>
              <a:t>Live tool:  </a:t>
            </a:r>
            <a:r>
              <a:rPr b="1" i="0" lang="en-US" sz="1600" u="none" cap="none" strike="noStrike">
                <a:solidFill>
                  <a:srgbClr val="E0762C"/>
                </a:solidFill>
                <a:latin typeface="Times New Roman"/>
                <a:ea typeface="Times New Roman"/>
                <a:cs typeface="Times New Roman"/>
                <a:sym typeface="Times New Roman"/>
              </a:rPr>
              <a:t>food-security-screening-capstone-project.onrender.com</a:t>
            </a:r>
            <a:br>
              <a:rPr b="1" i="0" lang="en-US" sz="1600" u="none" cap="none" strike="noStrike">
                <a:solidFill>
                  <a:srgbClr val="E0762C"/>
                </a:solidFill>
                <a:latin typeface="Times New Roman"/>
                <a:ea typeface="Times New Roman"/>
                <a:cs typeface="Times New Roman"/>
                <a:sym typeface="Times New Roman"/>
              </a:rPr>
            </a:br>
            <a:endParaRPr i="0" sz="16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1E2761"/>
              </a:buClr>
              <a:buSzPts val="1300"/>
              <a:buFont typeface="Calibri"/>
              <a:buNone/>
            </a:pPr>
            <a:r>
              <a:rPr b="1" i="0" lang="en-US" sz="1600" u="none" cap="none" strike="noStrike">
                <a:solidFill>
                  <a:srgbClr val="1E2761"/>
                </a:solidFill>
                <a:latin typeface="Times New Roman"/>
                <a:ea typeface="Times New Roman"/>
                <a:cs typeface="Times New Roman"/>
                <a:sym typeface="Times New Roman"/>
              </a:rPr>
              <a:t>Source:  </a:t>
            </a:r>
            <a:r>
              <a:rPr b="1" i="0" lang="en-US" sz="1600" u="none" cap="none" strike="noStrike">
                <a:solidFill>
                  <a:srgbClr val="E0762C"/>
                </a:solidFill>
                <a:latin typeface="Times New Roman"/>
                <a:ea typeface="Times New Roman"/>
                <a:cs typeface="Times New Roman"/>
                <a:sym typeface="Times New Roman"/>
              </a:rPr>
              <a:t>github.com/PriscillaKungu/Ngao-Labs-Cohort-3-Group-10-Food-Security-Screening-Model</a:t>
            </a:r>
            <a:endParaRPr i="0" sz="1600" u="none" cap="none" strike="noStrike">
              <a:solidFill>
                <a:schemeClr val="dk1"/>
              </a:solidFill>
              <a:latin typeface="Times New Roman"/>
              <a:ea typeface="Times New Roman"/>
              <a:cs typeface="Times New Roman"/>
              <a:sym typeface="Times New Roman"/>
            </a:endParaRPr>
          </a:p>
        </p:txBody>
      </p:sp>
      <p:sp>
        <p:nvSpPr>
          <p:cNvPr id="349" name="Google Shape;349;p16"/>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350" name="Google Shape;350;p16"/>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16</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17"/>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Product Walkthrough</a:t>
            </a:r>
            <a:endParaRPr sz="3000">
              <a:solidFill>
                <a:schemeClr val="dk1"/>
              </a:solidFill>
              <a:latin typeface="Times New Roman"/>
              <a:ea typeface="Times New Roman"/>
              <a:cs typeface="Times New Roman"/>
              <a:sym typeface="Times New Roman"/>
            </a:endParaRPr>
          </a:p>
        </p:txBody>
      </p:sp>
      <p:sp>
        <p:nvSpPr>
          <p:cNvPr id="357" name="Google Shape;357;p17"/>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Two Ways Caseworkers Use the Tool</a:t>
            </a:r>
            <a:endParaRPr i="0" sz="3000" u="none" cap="none" strike="noStrike">
              <a:solidFill>
                <a:schemeClr val="dk1"/>
              </a:solidFill>
              <a:latin typeface="Times New Roman"/>
              <a:ea typeface="Times New Roman"/>
              <a:cs typeface="Times New Roman"/>
              <a:sym typeface="Times New Roman"/>
            </a:endParaRPr>
          </a:p>
        </p:txBody>
      </p:sp>
      <p:sp>
        <p:nvSpPr>
          <p:cNvPr id="358" name="Google Shape;358;p17"/>
          <p:cNvSpPr/>
          <p:nvPr/>
        </p:nvSpPr>
        <p:spPr>
          <a:xfrm>
            <a:off x="548640" y="1371600"/>
            <a:ext cx="5394960" cy="4572000"/>
          </a:xfrm>
          <a:prstGeom prst="roundRect">
            <a:avLst>
              <a:gd fmla="val 1600"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59" name="Google Shape;359;p17"/>
          <p:cNvSpPr/>
          <p:nvPr/>
        </p:nvSpPr>
        <p:spPr>
          <a:xfrm>
            <a:off x="548640" y="1371600"/>
            <a:ext cx="5394960" cy="457200"/>
          </a:xfrm>
          <a:prstGeom prst="roundRect">
            <a:avLst>
              <a:gd fmla="val 16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60" name="Google Shape;360;p17"/>
          <p:cNvSpPr/>
          <p:nvPr/>
        </p:nvSpPr>
        <p:spPr>
          <a:xfrm>
            <a:off x="548640" y="1600200"/>
            <a:ext cx="5394960" cy="22860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61" name="Google Shape;361;p17"/>
          <p:cNvSpPr/>
          <p:nvPr/>
        </p:nvSpPr>
        <p:spPr>
          <a:xfrm>
            <a:off x="685800" y="1371600"/>
            <a:ext cx="51206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Single Household Form</a:t>
            </a:r>
            <a:endParaRPr i="0" sz="1300" u="none" cap="none" strike="noStrike">
              <a:solidFill>
                <a:schemeClr val="dk1"/>
              </a:solidFill>
              <a:latin typeface="Times New Roman"/>
              <a:ea typeface="Times New Roman"/>
              <a:cs typeface="Times New Roman"/>
              <a:sym typeface="Times New Roman"/>
            </a:endParaRPr>
          </a:p>
        </p:txBody>
      </p:sp>
      <p:sp>
        <p:nvSpPr>
          <p:cNvPr id="362" name="Google Shape;362;p17"/>
          <p:cNvSpPr/>
          <p:nvPr/>
        </p:nvSpPr>
        <p:spPr>
          <a:xfrm>
            <a:off x="713232" y="1938528"/>
            <a:ext cx="5065776" cy="388620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Household basics, employment, housing, dependents, farming, assets, expenditure, transfers, and health</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 organised into clear sections</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Dropdowns use real, human-readable labels (e.g. county names, education levels) mapped to the exact codes the model was trained on</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Returns a predicted status (secure → severely insecure) with a confidence score, instantly</a:t>
            </a:r>
            <a:endParaRPr i="0" sz="1600" u="none" cap="none" strike="noStrike">
              <a:solidFill>
                <a:schemeClr val="dk1"/>
              </a:solidFill>
              <a:latin typeface="Times New Roman"/>
              <a:ea typeface="Times New Roman"/>
              <a:cs typeface="Times New Roman"/>
              <a:sym typeface="Times New Roman"/>
            </a:endParaRPr>
          </a:p>
        </p:txBody>
      </p:sp>
      <p:sp>
        <p:nvSpPr>
          <p:cNvPr id="363" name="Google Shape;363;p17"/>
          <p:cNvSpPr/>
          <p:nvPr/>
        </p:nvSpPr>
        <p:spPr>
          <a:xfrm>
            <a:off x="6217920" y="1371600"/>
            <a:ext cx="5394960" cy="4572000"/>
          </a:xfrm>
          <a:prstGeom prst="roundRect">
            <a:avLst>
              <a:gd fmla="val 1600"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64" name="Google Shape;364;p17"/>
          <p:cNvSpPr/>
          <p:nvPr/>
        </p:nvSpPr>
        <p:spPr>
          <a:xfrm>
            <a:off x="6217920" y="1371600"/>
            <a:ext cx="5394960" cy="457200"/>
          </a:xfrm>
          <a:prstGeom prst="roundRect">
            <a:avLst>
              <a:gd fmla="val 16000" name="adj"/>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65" name="Google Shape;365;p17"/>
          <p:cNvSpPr/>
          <p:nvPr/>
        </p:nvSpPr>
        <p:spPr>
          <a:xfrm>
            <a:off x="6217920" y="1600200"/>
            <a:ext cx="5394960" cy="228600"/>
          </a:xfrm>
          <a:prstGeom prst="rect">
            <a:avLst/>
          </a:prstGeom>
          <a:solidFill>
            <a:srgbClr val="E076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66" name="Google Shape;366;p17"/>
          <p:cNvSpPr/>
          <p:nvPr/>
        </p:nvSpPr>
        <p:spPr>
          <a:xfrm>
            <a:off x="6355080" y="1371600"/>
            <a:ext cx="51206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Bulk CSV Screening</a:t>
            </a:r>
            <a:endParaRPr i="0" sz="1300" u="none" cap="none" strike="noStrike">
              <a:solidFill>
                <a:schemeClr val="dk1"/>
              </a:solidFill>
              <a:latin typeface="Times New Roman"/>
              <a:ea typeface="Times New Roman"/>
              <a:cs typeface="Times New Roman"/>
              <a:sym typeface="Times New Roman"/>
            </a:endParaRPr>
          </a:p>
        </p:txBody>
      </p:sp>
      <p:sp>
        <p:nvSpPr>
          <p:cNvPr id="367" name="Google Shape;367;p17"/>
          <p:cNvSpPr/>
          <p:nvPr/>
        </p:nvSpPr>
        <p:spPr>
          <a:xfrm>
            <a:off x="6382512" y="1938528"/>
            <a:ext cx="5065776" cy="388620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Caseworkers upload a CSV of many households at once </a:t>
            </a:r>
            <a:r>
              <a:rPr lang="en-US" sz="1600">
                <a:solidFill>
                  <a:schemeClr val="dk1"/>
                </a:solidFill>
                <a:latin typeface="Times New Roman"/>
                <a:ea typeface="Times New Roman"/>
                <a:cs typeface="Times New Roman"/>
                <a:sym typeface="Times New Roman"/>
              </a:rPr>
              <a:t>- </a:t>
            </a:r>
            <a:r>
              <a:rPr i="0" lang="en-US" sz="1600" u="none" cap="none" strike="noStrike">
                <a:solidFill>
                  <a:schemeClr val="dk1"/>
                </a:solidFill>
                <a:latin typeface="Times New Roman"/>
                <a:ea typeface="Times New Roman"/>
                <a:cs typeface="Times New Roman"/>
                <a:sym typeface="Times New Roman"/>
              </a:rPr>
              <a:t>one row per household</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The tool returns the same CSV with predicted_status and confidence columns added</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Rows are automatically sorted so the most food-insecure households appear first </a:t>
            </a:r>
            <a:r>
              <a:rPr lang="en-US" sz="1600">
                <a:solidFill>
                  <a:schemeClr val="dk1"/>
                </a:solidFill>
                <a:latin typeface="Times New Roman"/>
                <a:ea typeface="Times New Roman"/>
                <a:cs typeface="Times New Roman"/>
                <a:sym typeface="Times New Roman"/>
              </a:rPr>
              <a:t>which is </a:t>
            </a:r>
            <a:r>
              <a:rPr i="0" lang="en-US" sz="1600" u="none" cap="none" strike="noStrike">
                <a:solidFill>
                  <a:schemeClr val="dk1"/>
                </a:solidFill>
                <a:latin typeface="Times New Roman"/>
                <a:ea typeface="Times New Roman"/>
                <a:cs typeface="Times New Roman"/>
                <a:sym typeface="Times New Roman"/>
              </a:rPr>
              <a:t>a ready-made targeting list for field teams</a:t>
            </a:r>
            <a:endParaRPr i="0" sz="1600" u="none" cap="none" strike="noStrike">
              <a:solidFill>
                <a:schemeClr val="dk1"/>
              </a:solidFill>
              <a:latin typeface="Times New Roman"/>
              <a:ea typeface="Times New Roman"/>
              <a:cs typeface="Times New Roman"/>
              <a:sym typeface="Times New Roman"/>
            </a:endParaRPr>
          </a:p>
        </p:txBody>
      </p:sp>
      <p:sp>
        <p:nvSpPr>
          <p:cNvPr id="368" name="Google Shape;368;p17"/>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369" name="Google Shape;369;p17"/>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17</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374" name="Shape 374"/>
        <p:cNvGrpSpPr/>
        <p:nvPr/>
      </p:nvGrpSpPr>
      <p:grpSpPr>
        <a:xfrm>
          <a:off x="0" y="0"/>
          <a:ext cx="0" cy="0"/>
          <a:chOff x="0" y="0"/>
          <a:chExt cx="0" cy="0"/>
        </a:xfrm>
      </p:grpSpPr>
      <p:sp>
        <p:nvSpPr>
          <p:cNvPr id="375" name="Google Shape;375;p18"/>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B93D"/>
              </a:buClr>
              <a:buSzPts val="1200"/>
              <a:buFont typeface="Calibri"/>
              <a:buNone/>
            </a:pPr>
            <a:r>
              <a:rPr b="1" lang="en-US" sz="3000">
                <a:solidFill>
                  <a:srgbClr val="E8B93D"/>
                </a:solidFill>
                <a:latin typeface="Times New Roman"/>
                <a:ea typeface="Times New Roman"/>
                <a:cs typeface="Times New Roman"/>
                <a:sym typeface="Times New Roman"/>
              </a:rPr>
              <a:t>Why This Matters</a:t>
            </a:r>
            <a:endParaRPr sz="3000">
              <a:solidFill>
                <a:schemeClr val="dk1"/>
              </a:solidFill>
              <a:latin typeface="Times New Roman"/>
              <a:ea typeface="Times New Roman"/>
              <a:cs typeface="Times New Roman"/>
              <a:sym typeface="Times New Roman"/>
            </a:endParaRPr>
          </a:p>
        </p:txBody>
      </p:sp>
      <p:sp>
        <p:nvSpPr>
          <p:cNvPr id="376" name="Google Shape;376;p18"/>
          <p:cNvSpPr/>
          <p:nvPr/>
        </p:nvSpPr>
        <p:spPr>
          <a:xfrm>
            <a:off x="548640" y="45720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Cambria"/>
              <a:buNone/>
            </a:pPr>
            <a:r>
              <a:rPr b="1" i="0" lang="en-US" sz="3000" u="none" cap="none" strike="noStrike">
                <a:solidFill>
                  <a:srgbClr val="FFFFFF"/>
                </a:solidFill>
                <a:latin typeface="Times New Roman"/>
                <a:ea typeface="Times New Roman"/>
                <a:cs typeface="Times New Roman"/>
                <a:sym typeface="Times New Roman"/>
              </a:rPr>
              <a:t>Turning a Household Survey Into a Targeting List</a:t>
            </a:r>
            <a:endParaRPr i="0" sz="3000" u="none" cap="none" strike="noStrike">
              <a:solidFill>
                <a:schemeClr val="dk1"/>
              </a:solidFill>
              <a:latin typeface="Times New Roman"/>
              <a:ea typeface="Times New Roman"/>
              <a:cs typeface="Times New Roman"/>
              <a:sym typeface="Times New Roman"/>
            </a:endParaRPr>
          </a:p>
        </p:txBody>
      </p:sp>
      <p:sp>
        <p:nvSpPr>
          <p:cNvPr id="377" name="Google Shape;377;p18"/>
          <p:cNvSpPr/>
          <p:nvPr/>
        </p:nvSpPr>
        <p:spPr>
          <a:xfrm>
            <a:off x="548640" y="1234440"/>
            <a:ext cx="107899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400"/>
              <a:buFont typeface="Calibri"/>
              <a:buNone/>
            </a:pPr>
            <a:r>
              <a:rPr i="0" lang="en-US" sz="1600" u="none" cap="none" strike="noStrike">
                <a:solidFill>
                  <a:srgbClr val="CADCFC"/>
                </a:solidFill>
                <a:latin typeface="Times New Roman"/>
                <a:ea typeface="Times New Roman"/>
                <a:cs typeface="Times New Roman"/>
                <a:sym typeface="Times New Roman"/>
              </a:rPr>
              <a:t>Anticipatory action works only if aid reaches the right households before the shock peaks. This tool shortens the distance between a household's raw data and an actionable priority list.</a:t>
            </a:r>
            <a:endParaRPr i="0" sz="1600" u="none" cap="none" strike="noStrike">
              <a:solidFill>
                <a:schemeClr val="dk1"/>
              </a:solidFill>
              <a:latin typeface="Times New Roman"/>
              <a:ea typeface="Times New Roman"/>
              <a:cs typeface="Times New Roman"/>
              <a:sym typeface="Times New Roman"/>
            </a:endParaRPr>
          </a:p>
        </p:txBody>
      </p:sp>
      <p:sp>
        <p:nvSpPr>
          <p:cNvPr id="378" name="Google Shape;378;p18"/>
          <p:cNvSpPr/>
          <p:nvPr/>
        </p:nvSpPr>
        <p:spPr>
          <a:xfrm>
            <a:off x="548640" y="2103120"/>
            <a:ext cx="2606040" cy="2651760"/>
          </a:xfrm>
          <a:prstGeom prst="roundRect">
            <a:avLst>
              <a:gd fmla="val 2807" name="adj"/>
            </a:avLst>
          </a:prstGeom>
          <a:solidFill>
            <a:srgbClr val="141B4D"/>
          </a:solidFill>
          <a:ln cap="flat" cmpd="sng" w="12700">
            <a:solidFill>
              <a:srgbClr val="3A43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79" name="Google Shape;379;p18"/>
          <p:cNvSpPr/>
          <p:nvPr/>
        </p:nvSpPr>
        <p:spPr>
          <a:xfrm>
            <a:off x="685800" y="2240280"/>
            <a:ext cx="2331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B93D"/>
              </a:buClr>
              <a:buSzPts val="1500"/>
              <a:buFont typeface="Calibri"/>
              <a:buNone/>
            </a:pPr>
            <a:r>
              <a:rPr b="1" i="0" lang="en-US" sz="1500" u="none" cap="none" strike="noStrike">
                <a:solidFill>
                  <a:srgbClr val="E8B93D"/>
                </a:solidFill>
                <a:latin typeface="Times New Roman"/>
                <a:ea typeface="Times New Roman"/>
                <a:cs typeface="Times New Roman"/>
                <a:sym typeface="Times New Roman"/>
              </a:rPr>
              <a:t>Screen</a:t>
            </a:r>
            <a:endParaRPr i="0" sz="1500" u="none" cap="none" strike="noStrike">
              <a:solidFill>
                <a:schemeClr val="dk1"/>
              </a:solidFill>
              <a:latin typeface="Times New Roman"/>
              <a:ea typeface="Times New Roman"/>
              <a:cs typeface="Times New Roman"/>
              <a:sym typeface="Times New Roman"/>
            </a:endParaRPr>
          </a:p>
        </p:txBody>
      </p:sp>
      <p:sp>
        <p:nvSpPr>
          <p:cNvPr id="380" name="Google Shape;380;p18"/>
          <p:cNvSpPr/>
          <p:nvPr/>
        </p:nvSpPr>
        <p:spPr>
          <a:xfrm>
            <a:off x="685800" y="2697480"/>
            <a:ext cx="2331720" cy="1920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ADCFC"/>
              </a:buClr>
              <a:buSzPts val="1150"/>
              <a:buFont typeface="Calibri"/>
              <a:buNone/>
            </a:pPr>
            <a:r>
              <a:rPr i="0" lang="en-US" sz="1600" u="none" cap="none" strike="noStrike">
                <a:solidFill>
                  <a:srgbClr val="CADCFC"/>
                </a:solidFill>
                <a:latin typeface="Times New Roman"/>
                <a:ea typeface="Times New Roman"/>
                <a:cs typeface="Times New Roman"/>
                <a:sym typeface="Times New Roman"/>
              </a:rPr>
              <a:t>Field or phone-collected household data enters the tool </a:t>
            </a:r>
            <a:r>
              <a:rPr lang="en-US" sz="1600">
                <a:solidFill>
                  <a:srgbClr val="CADCFC"/>
                </a:solidFill>
                <a:latin typeface="Times New Roman"/>
                <a:ea typeface="Times New Roman"/>
                <a:cs typeface="Times New Roman"/>
                <a:sym typeface="Times New Roman"/>
              </a:rPr>
              <a:t>either as</a:t>
            </a:r>
            <a:r>
              <a:rPr i="0" lang="en-US" sz="1600" u="none" cap="none" strike="noStrike">
                <a:solidFill>
                  <a:srgbClr val="CADCFC"/>
                </a:solidFill>
                <a:latin typeface="Times New Roman"/>
                <a:ea typeface="Times New Roman"/>
                <a:cs typeface="Times New Roman"/>
                <a:sym typeface="Times New Roman"/>
              </a:rPr>
              <a:t> one record or thousands</a:t>
            </a:r>
            <a:endParaRPr i="0" sz="1600" u="none" cap="none" strike="noStrike">
              <a:solidFill>
                <a:schemeClr val="dk1"/>
              </a:solidFill>
              <a:latin typeface="Times New Roman"/>
              <a:ea typeface="Times New Roman"/>
              <a:cs typeface="Times New Roman"/>
              <a:sym typeface="Times New Roman"/>
            </a:endParaRPr>
          </a:p>
        </p:txBody>
      </p:sp>
      <p:sp>
        <p:nvSpPr>
          <p:cNvPr id="381" name="Google Shape;381;p18"/>
          <p:cNvSpPr/>
          <p:nvPr/>
        </p:nvSpPr>
        <p:spPr>
          <a:xfrm>
            <a:off x="3383280" y="2103120"/>
            <a:ext cx="2606040" cy="2651760"/>
          </a:xfrm>
          <a:prstGeom prst="roundRect">
            <a:avLst>
              <a:gd fmla="val 2807" name="adj"/>
            </a:avLst>
          </a:prstGeom>
          <a:solidFill>
            <a:srgbClr val="141B4D"/>
          </a:solidFill>
          <a:ln cap="flat" cmpd="sng" w="12700">
            <a:solidFill>
              <a:srgbClr val="3A43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82" name="Google Shape;382;p18"/>
          <p:cNvSpPr/>
          <p:nvPr/>
        </p:nvSpPr>
        <p:spPr>
          <a:xfrm>
            <a:off x="3520440" y="2240280"/>
            <a:ext cx="2331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B93D"/>
              </a:buClr>
              <a:buSzPts val="1500"/>
              <a:buFont typeface="Calibri"/>
              <a:buNone/>
            </a:pPr>
            <a:r>
              <a:rPr b="1" i="0" lang="en-US" sz="1500" u="none" cap="none" strike="noStrike">
                <a:solidFill>
                  <a:srgbClr val="E8B93D"/>
                </a:solidFill>
                <a:latin typeface="Times New Roman"/>
                <a:ea typeface="Times New Roman"/>
                <a:cs typeface="Times New Roman"/>
                <a:sym typeface="Times New Roman"/>
              </a:rPr>
              <a:t>Rank</a:t>
            </a:r>
            <a:endParaRPr i="0" sz="1500" u="none" cap="none" strike="noStrike">
              <a:solidFill>
                <a:schemeClr val="dk1"/>
              </a:solidFill>
              <a:latin typeface="Times New Roman"/>
              <a:ea typeface="Times New Roman"/>
              <a:cs typeface="Times New Roman"/>
              <a:sym typeface="Times New Roman"/>
            </a:endParaRPr>
          </a:p>
        </p:txBody>
      </p:sp>
      <p:sp>
        <p:nvSpPr>
          <p:cNvPr id="383" name="Google Shape;383;p18"/>
          <p:cNvSpPr/>
          <p:nvPr/>
        </p:nvSpPr>
        <p:spPr>
          <a:xfrm>
            <a:off x="3520440" y="2697480"/>
            <a:ext cx="2331720" cy="1920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ADCFC"/>
              </a:buClr>
              <a:buSzPts val="1150"/>
              <a:buFont typeface="Calibri"/>
              <a:buNone/>
            </a:pPr>
            <a:r>
              <a:rPr i="0" lang="en-US" sz="1600" u="none" cap="none" strike="noStrike">
                <a:solidFill>
                  <a:srgbClr val="CADCFC"/>
                </a:solidFill>
                <a:latin typeface="Times New Roman"/>
                <a:ea typeface="Times New Roman"/>
                <a:cs typeface="Times New Roman"/>
                <a:sym typeface="Times New Roman"/>
              </a:rPr>
              <a:t>Households are sorted by predicted severity, most insecure first</a:t>
            </a:r>
            <a:endParaRPr i="0" sz="1600" u="none" cap="none" strike="noStrike">
              <a:solidFill>
                <a:schemeClr val="dk1"/>
              </a:solidFill>
              <a:latin typeface="Times New Roman"/>
              <a:ea typeface="Times New Roman"/>
              <a:cs typeface="Times New Roman"/>
              <a:sym typeface="Times New Roman"/>
            </a:endParaRPr>
          </a:p>
        </p:txBody>
      </p:sp>
      <p:sp>
        <p:nvSpPr>
          <p:cNvPr id="384" name="Google Shape;384;p18"/>
          <p:cNvSpPr/>
          <p:nvPr/>
        </p:nvSpPr>
        <p:spPr>
          <a:xfrm>
            <a:off x="6217920" y="2103120"/>
            <a:ext cx="2606040" cy="2651760"/>
          </a:xfrm>
          <a:prstGeom prst="roundRect">
            <a:avLst>
              <a:gd fmla="val 2807" name="adj"/>
            </a:avLst>
          </a:prstGeom>
          <a:solidFill>
            <a:srgbClr val="141B4D"/>
          </a:solidFill>
          <a:ln cap="flat" cmpd="sng" w="12700">
            <a:solidFill>
              <a:srgbClr val="3A43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85" name="Google Shape;385;p18"/>
          <p:cNvSpPr/>
          <p:nvPr/>
        </p:nvSpPr>
        <p:spPr>
          <a:xfrm>
            <a:off x="6355080" y="2240280"/>
            <a:ext cx="2331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B93D"/>
              </a:buClr>
              <a:buSzPts val="1500"/>
              <a:buFont typeface="Calibri"/>
              <a:buNone/>
            </a:pPr>
            <a:r>
              <a:rPr b="1" i="0" lang="en-US" sz="1500" u="none" cap="none" strike="noStrike">
                <a:solidFill>
                  <a:srgbClr val="E8B93D"/>
                </a:solidFill>
                <a:latin typeface="Times New Roman"/>
                <a:ea typeface="Times New Roman"/>
                <a:cs typeface="Times New Roman"/>
                <a:sym typeface="Times New Roman"/>
              </a:rPr>
              <a:t>Prioritise</a:t>
            </a:r>
            <a:endParaRPr i="0" sz="1500" u="none" cap="none" strike="noStrike">
              <a:solidFill>
                <a:schemeClr val="dk1"/>
              </a:solidFill>
              <a:latin typeface="Times New Roman"/>
              <a:ea typeface="Times New Roman"/>
              <a:cs typeface="Times New Roman"/>
              <a:sym typeface="Times New Roman"/>
            </a:endParaRPr>
          </a:p>
        </p:txBody>
      </p:sp>
      <p:sp>
        <p:nvSpPr>
          <p:cNvPr id="386" name="Google Shape;386;p18"/>
          <p:cNvSpPr/>
          <p:nvPr/>
        </p:nvSpPr>
        <p:spPr>
          <a:xfrm>
            <a:off x="6355080" y="2697480"/>
            <a:ext cx="2331720" cy="1920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ADCFC"/>
              </a:buClr>
              <a:buSzPts val="1150"/>
              <a:buFont typeface="Calibri"/>
              <a:buNone/>
            </a:pPr>
            <a:r>
              <a:rPr i="0" lang="en-US" sz="1600" u="none" cap="none" strike="noStrike">
                <a:solidFill>
                  <a:srgbClr val="CADCFC"/>
                </a:solidFill>
                <a:latin typeface="Times New Roman"/>
                <a:ea typeface="Times New Roman"/>
                <a:cs typeface="Times New Roman"/>
                <a:sym typeface="Times New Roman"/>
              </a:rPr>
              <a:t>Caseworkers and county officials direct limited aid, cash transfers, or follow-up visits to the top of the list</a:t>
            </a:r>
            <a:endParaRPr i="0" sz="1600" u="none" cap="none" strike="noStrike">
              <a:solidFill>
                <a:schemeClr val="dk1"/>
              </a:solidFill>
              <a:latin typeface="Times New Roman"/>
              <a:ea typeface="Times New Roman"/>
              <a:cs typeface="Times New Roman"/>
              <a:sym typeface="Times New Roman"/>
            </a:endParaRPr>
          </a:p>
        </p:txBody>
      </p:sp>
      <p:sp>
        <p:nvSpPr>
          <p:cNvPr id="387" name="Google Shape;387;p18"/>
          <p:cNvSpPr/>
          <p:nvPr/>
        </p:nvSpPr>
        <p:spPr>
          <a:xfrm>
            <a:off x="9052560" y="2103120"/>
            <a:ext cx="2606040" cy="2651760"/>
          </a:xfrm>
          <a:prstGeom prst="roundRect">
            <a:avLst>
              <a:gd fmla="val 2807" name="adj"/>
            </a:avLst>
          </a:prstGeom>
          <a:solidFill>
            <a:srgbClr val="141B4D"/>
          </a:solidFill>
          <a:ln cap="flat" cmpd="sng" w="12700">
            <a:solidFill>
              <a:srgbClr val="3A43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88" name="Google Shape;388;p18"/>
          <p:cNvSpPr/>
          <p:nvPr/>
        </p:nvSpPr>
        <p:spPr>
          <a:xfrm>
            <a:off x="9189720" y="2240280"/>
            <a:ext cx="2331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B93D"/>
              </a:buClr>
              <a:buSzPts val="1500"/>
              <a:buFont typeface="Calibri"/>
              <a:buNone/>
            </a:pPr>
            <a:r>
              <a:rPr b="1" i="0" lang="en-US" sz="1500" u="none" cap="none" strike="noStrike">
                <a:solidFill>
                  <a:srgbClr val="E8B93D"/>
                </a:solidFill>
                <a:latin typeface="Times New Roman"/>
                <a:ea typeface="Times New Roman"/>
                <a:cs typeface="Times New Roman"/>
                <a:sym typeface="Times New Roman"/>
              </a:rPr>
              <a:t>Cushion the shock</a:t>
            </a:r>
            <a:endParaRPr i="0" sz="1500" u="none" cap="none" strike="noStrike">
              <a:solidFill>
                <a:schemeClr val="dk1"/>
              </a:solidFill>
              <a:latin typeface="Times New Roman"/>
              <a:ea typeface="Times New Roman"/>
              <a:cs typeface="Times New Roman"/>
              <a:sym typeface="Times New Roman"/>
            </a:endParaRPr>
          </a:p>
        </p:txBody>
      </p:sp>
      <p:sp>
        <p:nvSpPr>
          <p:cNvPr id="389" name="Google Shape;389;p18"/>
          <p:cNvSpPr/>
          <p:nvPr/>
        </p:nvSpPr>
        <p:spPr>
          <a:xfrm>
            <a:off x="9189720" y="2697480"/>
            <a:ext cx="2331720" cy="1920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ADCFC"/>
              </a:buClr>
              <a:buSzPts val="1150"/>
              <a:buFont typeface="Calibri"/>
              <a:buNone/>
            </a:pPr>
            <a:r>
              <a:rPr i="0" lang="en-US" sz="1600" u="none" cap="none" strike="noStrike">
                <a:solidFill>
                  <a:srgbClr val="CADCFC"/>
                </a:solidFill>
                <a:latin typeface="Times New Roman"/>
                <a:ea typeface="Times New Roman"/>
                <a:cs typeface="Times New Roman"/>
                <a:sym typeface="Times New Roman"/>
              </a:rPr>
              <a:t>Households facing El Niño floods or drought get support before assets are sold or children are pulled from school</a:t>
            </a:r>
            <a:endParaRPr i="0" sz="1600" u="none" cap="none" strike="noStrike">
              <a:solidFill>
                <a:schemeClr val="dk1"/>
              </a:solidFill>
              <a:latin typeface="Times New Roman"/>
              <a:ea typeface="Times New Roman"/>
              <a:cs typeface="Times New Roman"/>
              <a:sym typeface="Times New Roman"/>
            </a:endParaRPr>
          </a:p>
        </p:txBody>
      </p:sp>
      <p:sp>
        <p:nvSpPr>
          <p:cNvPr id="390" name="Google Shape;390;p18"/>
          <p:cNvSpPr/>
          <p:nvPr/>
        </p:nvSpPr>
        <p:spPr>
          <a:xfrm>
            <a:off x="548640" y="502920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Cambria"/>
              <a:buNone/>
            </a:pPr>
            <a:r>
              <a:rPr i="1" lang="en-US" sz="1350" u="none" cap="none" strike="noStrike">
                <a:solidFill>
                  <a:srgbClr val="FFFFFF"/>
                </a:solidFill>
                <a:latin typeface="Times New Roman"/>
                <a:ea typeface="Times New Roman"/>
                <a:cs typeface="Times New Roman"/>
                <a:sym typeface="Times New Roman"/>
              </a:rPr>
              <a:t>Every $1 invested in anticipatory action can generate up to $7 in avoided losses (FAO). A faster, data-driven targeting step is a direct contribution to that return.</a:t>
            </a:r>
            <a:endParaRPr i="0" sz="1350" u="none" cap="none" strike="noStrike">
              <a:solidFill>
                <a:schemeClr val="dk1"/>
              </a:solidFill>
              <a:latin typeface="Times New Roman"/>
              <a:ea typeface="Times New Roman"/>
              <a:cs typeface="Times New Roman"/>
              <a:sym typeface="Times New Roman"/>
            </a:endParaRPr>
          </a:p>
        </p:txBody>
      </p:sp>
      <p:sp>
        <p:nvSpPr>
          <p:cNvPr id="391" name="Google Shape;391;p18"/>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0B0"/>
              </a:buClr>
              <a:buSzPts val="900"/>
              <a:buFont typeface="Calibri"/>
              <a:buNone/>
            </a:pPr>
            <a:r>
              <a:rPr i="0" lang="en-US" sz="900" u="none" cap="none" strike="noStrike">
                <a:solidFill>
                  <a:srgbClr val="8A90B0"/>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392" name="Google Shape;392;p18"/>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0B0"/>
              </a:buClr>
              <a:buSzPts val="900"/>
              <a:buFont typeface="Calibri"/>
              <a:buNone/>
            </a:pPr>
            <a:r>
              <a:rPr i="0" lang="en-US" sz="900" u="none" cap="none" strike="noStrike">
                <a:solidFill>
                  <a:srgbClr val="8A90B0"/>
                </a:solidFill>
                <a:latin typeface="Times New Roman"/>
                <a:ea typeface="Times New Roman"/>
                <a:cs typeface="Times New Roman"/>
                <a:sym typeface="Times New Roman"/>
              </a:rPr>
              <a:t>18</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p19"/>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Responsible AI Statement · 1 Of 2</a:t>
            </a:r>
            <a:endParaRPr sz="3000">
              <a:solidFill>
                <a:schemeClr val="dk1"/>
              </a:solidFill>
              <a:latin typeface="Times New Roman"/>
              <a:ea typeface="Times New Roman"/>
              <a:cs typeface="Times New Roman"/>
              <a:sym typeface="Times New Roman"/>
            </a:endParaRPr>
          </a:p>
        </p:txBody>
      </p:sp>
      <p:sp>
        <p:nvSpPr>
          <p:cNvPr id="399" name="Google Shape;399;p19"/>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Who This System Affects, and What Could Go Wrong</a:t>
            </a:r>
            <a:endParaRPr i="0" sz="3000" u="none" cap="none" strike="noStrike">
              <a:solidFill>
                <a:schemeClr val="dk1"/>
              </a:solidFill>
              <a:latin typeface="Times New Roman"/>
              <a:ea typeface="Times New Roman"/>
              <a:cs typeface="Times New Roman"/>
              <a:sym typeface="Times New Roman"/>
            </a:endParaRPr>
          </a:p>
        </p:txBody>
      </p:sp>
      <p:sp>
        <p:nvSpPr>
          <p:cNvPr id="400" name="Google Shape;400;p19"/>
          <p:cNvSpPr/>
          <p:nvPr/>
        </p:nvSpPr>
        <p:spPr>
          <a:xfrm>
            <a:off x="548640" y="1371600"/>
            <a:ext cx="5394960" cy="4572000"/>
          </a:xfrm>
          <a:prstGeom prst="roundRect">
            <a:avLst>
              <a:gd fmla="val 1600"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01" name="Google Shape;401;p19"/>
          <p:cNvSpPr/>
          <p:nvPr/>
        </p:nvSpPr>
        <p:spPr>
          <a:xfrm>
            <a:off x="548640" y="1371600"/>
            <a:ext cx="5394960" cy="457200"/>
          </a:xfrm>
          <a:prstGeom prst="roundRect">
            <a:avLst>
              <a:gd fmla="val 16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02" name="Google Shape;402;p19"/>
          <p:cNvSpPr/>
          <p:nvPr/>
        </p:nvSpPr>
        <p:spPr>
          <a:xfrm>
            <a:off x="548640" y="1600200"/>
            <a:ext cx="5394960" cy="228600"/>
          </a:xfrm>
          <a:prstGeom prst="rect">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03" name="Google Shape;403;p19"/>
          <p:cNvSpPr/>
          <p:nvPr/>
        </p:nvSpPr>
        <p:spPr>
          <a:xfrm>
            <a:off x="685800" y="1371600"/>
            <a:ext cx="51206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Who is affected</a:t>
            </a:r>
            <a:endParaRPr i="0" sz="1300" u="none" cap="none" strike="noStrike">
              <a:solidFill>
                <a:schemeClr val="dk1"/>
              </a:solidFill>
              <a:latin typeface="Times New Roman"/>
              <a:ea typeface="Times New Roman"/>
              <a:cs typeface="Times New Roman"/>
              <a:sym typeface="Times New Roman"/>
            </a:endParaRPr>
          </a:p>
        </p:txBody>
      </p:sp>
      <p:sp>
        <p:nvSpPr>
          <p:cNvPr id="404" name="Google Shape;404;p19"/>
          <p:cNvSpPr/>
          <p:nvPr/>
        </p:nvSpPr>
        <p:spPr>
          <a:xfrm>
            <a:off x="713232" y="1938528"/>
            <a:ext cx="5065776" cy="388620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Users: caseworkers and programme staff who view outputs and act on them</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Decision subjects: individual Kenyan households classified by the model, most of whom will never know it was applied to their data</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Voiceless affected parties: households with no phone access, structurally invisible to a phone-survey-derived dataset and therefore to this model</a:t>
            </a:r>
            <a:endParaRPr i="0" sz="1600" u="none" cap="none" strike="noStrike">
              <a:solidFill>
                <a:schemeClr val="dk1"/>
              </a:solidFill>
              <a:latin typeface="Times New Roman"/>
              <a:ea typeface="Times New Roman"/>
              <a:cs typeface="Times New Roman"/>
              <a:sym typeface="Times New Roman"/>
            </a:endParaRPr>
          </a:p>
        </p:txBody>
      </p:sp>
      <p:sp>
        <p:nvSpPr>
          <p:cNvPr id="405" name="Google Shape;405;p19"/>
          <p:cNvSpPr/>
          <p:nvPr/>
        </p:nvSpPr>
        <p:spPr>
          <a:xfrm>
            <a:off x="6217920" y="1371600"/>
            <a:ext cx="5394960" cy="4572000"/>
          </a:xfrm>
          <a:prstGeom prst="roundRect">
            <a:avLst>
              <a:gd fmla="val 1600" name="adj"/>
            </a:avLst>
          </a:prstGeom>
          <a:solidFill>
            <a:srgbClr val="FFFFFF"/>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06" name="Google Shape;406;p19"/>
          <p:cNvSpPr/>
          <p:nvPr/>
        </p:nvSpPr>
        <p:spPr>
          <a:xfrm>
            <a:off x="6217920" y="1371600"/>
            <a:ext cx="5394960" cy="457200"/>
          </a:xfrm>
          <a:prstGeom prst="roundRect">
            <a:avLst>
              <a:gd fmla="val 16000"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07" name="Google Shape;407;p19"/>
          <p:cNvSpPr/>
          <p:nvPr/>
        </p:nvSpPr>
        <p:spPr>
          <a:xfrm>
            <a:off x="6217920" y="1600200"/>
            <a:ext cx="5394960" cy="228600"/>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08" name="Google Shape;408;p19"/>
          <p:cNvSpPr/>
          <p:nvPr/>
        </p:nvSpPr>
        <p:spPr>
          <a:xfrm>
            <a:off x="6355080" y="1371600"/>
            <a:ext cx="51206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imes New Roman"/>
                <a:ea typeface="Times New Roman"/>
                <a:cs typeface="Times New Roman"/>
                <a:sym typeface="Times New Roman"/>
              </a:rPr>
              <a:t>Worst </a:t>
            </a:r>
            <a:r>
              <a:rPr b="1" lang="en-US" sz="1300">
                <a:solidFill>
                  <a:srgbClr val="FFFFFF"/>
                </a:solidFill>
                <a:latin typeface="Times New Roman"/>
                <a:ea typeface="Times New Roman"/>
                <a:cs typeface="Times New Roman"/>
                <a:sym typeface="Times New Roman"/>
              </a:rPr>
              <a:t>possible</a:t>
            </a:r>
            <a:r>
              <a:rPr b="1" i="0" lang="en-US" sz="1300" u="none" cap="none" strike="noStrike">
                <a:solidFill>
                  <a:srgbClr val="FFFFFF"/>
                </a:solidFill>
                <a:latin typeface="Times New Roman"/>
                <a:ea typeface="Times New Roman"/>
                <a:cs typeface="Times New Roman"/>
                <a:sym typeface="Times New Roman"/>
              </a:rPr>
              <a:t> outcome</a:t>
            </a:r>
            <a:endParaRPr i="0" sz="1300" u="none" cap="none" strike="noStrike">
              <a:solidFill>
                <a:schemeClr val="dk1"/>
              </a:solidFill>
              <a:latin typeface="Times New Roman"/>
              <a:ea typeface="Times New Roman"/>
              <a:cs typeface="Times New Roman"/>
              <a:sym typeface="Times New Roman"/>
            </a:endParaRPr>
          </a:p>
        </p:txBody>
      </p:sp>
      <p:sp>
        <p:nvSpPr>
          <p:cNvPr id="409" name="Google Shape;409;p19"/>
          <p:cNvSpPr/>
          <p:nvPr/>
        </p:nvSpPr>
        <p:spPr>
          <a:xfrm>
            <a:off x="6382512" y="1938528"/>
            <a:ext cx="5065776" cy="388620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A severely insecure rural household is missed and excluded from a prioritisation list during a resource-constrained response </a:t>
            </a:r>
            <a:r>
              <a:rPr lang="en-US" sz="1600">
                <a:solidFill>
                  <a:schemeClr val="dk1"/>
                </a:solidFill>
                <a:latin typeface="Times New Roman"/>
                <a:ea typeface="Times New Roman"/>
                <a:cs typeface="Times New Roman"/>
                <a:sym typeface="Times New Roman"/>
              </a:rPr>
              <a:t>since</a:t>
            </a:r>
            <a:r>
              <a:rPr i="0" lang="en-US" sz="1600" u="none" cap="none" strike="noStrike">
                <a:solidFill>
                  <a:schemeClr val="dk1"/>
                </a:solidFill>
                <a:latin typeface="Times New Roman"/>
                <a:ea typeface="Times New Roman"/>
                <a:cs typeface="Times New Roman"/>
                <a:sym typeface="Times New Roman"/>
              </a:rPr>
              <a:t> recall is measurably lower for rural (45.9%) than urban (58.1%) households</a:t>
            </a:r>
            <a:endParaRPr i="0" sz="1600" u="none" cap="none" strike="noStrike">
              <a:solidFill>
                <a:schemeClr val="dk1"/>
              </a:solidFill>
              <a:latin typeface="Times New Roman"/>
              <a:ea typeface="Times New Roman"/>
              <a:cs typeface="Times New Roman"/>
              <a:sym typeface="Times New Roman"/>
            </a:endParaRPr>
          </a:p>
          <a:p>
            <a:pPr indent="-374650" lvl="0" marL="342900" marR="0" rtl="0" algn="l">
              <a:spcBef>
                <a:spcPts val="600"/>
              </a:spcBef>
              <a:spcAft>
                <a:spcPts val="0"/>
              </a:spcAft>
              <a:buClr>
                <a:schemeClr val="dk1"/>
              </a:buClr>
              <a:buSzPts val="1600"/>
              <a:buFont typeface="Times New Roman"/>
              <a:buChar char="•"/>
            </a:pPr>
            <a:r>
              <a:rPr i="0" lang="en-US" sz="1600" u="none" cap="none" strike="noStrike">
                <a:solidFill>
                  <a:schemeClr val="dk1"/>
                </a:solidFill>
                <a:latin typeface="Times New Roman"/>
                <a:ea typeface="Times New Roman"/>
                <a:cs typeface="Times New Roman"/>
                <a:sym typeface="Times New Roman"/>
              </a:rPr>
              <a:t>Equally concrete: 62 of 489 genuinely food-secure households were flagged as severely insecure in testing nearly as many as the 64 severe cases correctly caught diverting scarce aid</a:t>
            </a:r>
            <a:endParaRPr i="0" sz="1600" u="none" cap="none" strike="noStrike">
              <a:solidFill>
                <a:schemeClr val="dk1"/>
              </a:solidFill>
              <a:latin typeface="Times New Roman"/>
              <a:ea typeface="Times New Roman"/>
              <a:cs typeface="Times New Roman"/>
              <a:sym typeface="Times New Roman"/>
            </a:endParaRPr>
          </a:p>
        </p:txBody>
      </p:sp>
      <p:sp>
        <p:nvSpPr>
          <p:cNvPr id="410" name="Google Shape;410;p19"/>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411" name="Google Shape;411;p19"/>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19</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6" name="Shape 416"/>
        <p:cNvGrpSpPr/>
        <p:nvPr/>
      </p:nvGrpSpPr>
      <p:grpSpPr>
        <a:xfrm>
          <a:off x="0" y="0"/>
          <a:ext cx="0" cy="0"/>
          <a:chOff x="0" y="0"/>
          <a:chExt cx="0" cy="0"/>
        </a:xfrm>
      </p:grpSpPr>
      <p:sp>
        <p:nvSpPr>
          <p:cNvPr id="417" name="Google Shape;417;p20"/>
          <p:cNvSpPr/>
          <p:nvPr/>
        </p:nvSpPr>
        <p:spPr>
          <a:xfrm>
            <a:off x="548640" y="164592"/>
            <a:ext cx="91440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62C"/>
              </a:buClr>
              <a:buSzPts val="1200"/>
              <a:buFont typeface="Calibri"/>
              <a:buNone/>
            </a:pPr>
            <a:r>
              <a:rPr b="1" lang="en-US" sz="3000">
                <a:solidFill>
                  <a:srgbClr val="E0762C"/>
                </a:solidFill>
                <a:latin typeface="Times New Roman"/>
                <a:ea typeface="Times New Roman"/>
                <a:cs typeface="Times New Roman"/>
                <a:sym typeface="Times New Roman"/>
              </a:rPr>
              <a:t>Responsible AI Statement · 2 Of 2</a:t>
            </a:r>
            <a:endParaRPr sz="3000">
              <a:solidFill>
                <a:schemeClr val="dk1"/>
              </a:solidFill>
              <a:latin typeface="Times New Roman"/>
              <a:ea typeface="Times New Roman"/>
              <a:cs typeface="Times New Roman"/>
              <a:sym typeface="Times New Roman"/>
            </a:endParaRPr>
          </a:p>
        </p:txBody>
      </p:sp>
      <p:sp>
        <p:nvSpPr>
          <p:cNvPr id="418" name="Google Shape;418;p20"/>
          <p:cNvSpPr/>
          <p:nvPr/>
        </p:nvSpPr>
        <p:spPr>
          <a:xfrm>
            <a:off x="548640" y="41148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000"/>
              <a:buFont typeface="Cambria"/>
              <a:buNone/>
            </a:pPr>
            <a:r>
              <a:rPr b="1" i="0" lang="en-US" sz="3000" u="none" cap="none" strike="noStrike">
                <a:solidFill>
                  <a:srgbClr val="1E2761"/>
                </a:solidFill>
                <a:latin typeface="Times New Roman"/>
                <a:ea typeface="Times New Roman"/>
                <a:cs typeface="Times New Roman"/>
                <a:sym typeface="Times New Roman"/>
              </a:rPr>
              <a:t>Cost, Redress, Monitoring and What's Next</a:t>
            </a:r>
            <a:endParaRPr i="0" sz="3000" u="none" cap="none" strike="noStrike">
              <a:solidFill>
                <a:schemeClr val="dk1"/>
              </a:solidFill>
              <a:latin typeface="Times New Roman"/>
              <a:ea typeface="Times New Roman"/>
              <a:cs typeface="Times New Roman"/>
              <a:sym typeface="Times New Roman"/>
            </a:endParaRPr>
          </a:p>
        </p:txBody>
      </p:sp>
      <p:sp>
        <p:nvSpPr>
          <p:cNvPr id="419" name="Google Shape;419;p20"/>
          <p:cNvSpPr/>
          <p:nvPr/>
        </p:nvSpPr>
        <p:spPr>
          <a:xfrm>
            <a:off x="548640" y="1371600"/>
            <a:ext cx="11064240" cy="960120"/>
          </a:xfrm>
          <a:prstGeom prst="roundRect">
            <a:avLst>
              <a:gd fmla="val 5714"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20" name="Google Shape;420;p20"/>
          <p:cNvSpPr/>
          <p:nvPr/>
        </p:nvSpPr>
        <p:spPr>
          <a:xfrm>
            <a:off x="777240" y="1444752"/>
            <a:ext cx="23774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62C"/>
              </a:buClr>
              <a:buSzPts val="1300"/>
              <a:buFont typeface="Calibri"/>
              <a:buNone/>
            </a:pPr>
            <a:r>
              <a:rPr b="1" i="0" lang="en-US" sz="1300" u="none" cap="none" strike="noStrike">
                <a:solidFill>
                  <a:srgbClr val="E0762C"/>
                </a:solidFill>
                <a:latin typeface="Times New Roman"/>
                <a:ea typeface="Times New Roman"/>
                <a:cs typeface="Times New Roman"/>
                <a:sym typeface="Times New Roman"/>
              </a:rPr>
              <a:t>Who bears the cost</a:t>
            </a:r>
            <a:endParaRPr i="0" sz="1300" u="none" cap="none" strike="noStrike">
              <a:solidFill>
                <a:schemeClr val="dk1"/>
              </a:solidFill>
              <a:latin typeface="Times New Roman"/>
              <a:ea typeface="Times New Roman"/>
              <a:cs typeface="Times New Roman"/>
              <a:sym typeface="Times New Roman"/>
            </a:endParaRPr>
          </a:p>
        </p:txBody>
      </p:sp>
      <p:sp>
        <p:nvSpPr>
          <p:cNvPr id="421" name="Google Shape;421;p20"/>
          <p:cNvSpPr/>
          <p:nvPr/>
        </p:nvSpPr>
        <p:spPr>
          <a:xfrm>
            <a:off x="3246120" y="1444752"/>
            <a:ext cx="81381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50"/>
              <a:buFont typeface="Calibri"/>
              <a:buNone/>
            </a:pPr>
            <a:r>
              <a:rPr i="0" lang="en-US" sz="1600" u="none" cap="none" strike="noStrike">
                <a:solidFill>
                  <a:schemeClr val="dk1"/>
                </a:solidFill>
                <a:latin typeface="Times New Roman"/>
                <a:ea typeface="Times New Roman"/>
                <a:cs typeface="Times New Roman"/>
                <a:sym typeface="Times New Roman"/>
              </a:rPr>
              <a:t>Almost entirely the households being classified, not the organisation deploying the model</a:t>
            </a:r>
            <a:r>
              <a:rPr lang="en-US" sz="1600">
                <a:solidFill>
                  <a:schemeClr val="dk1"/>
                </a:solidFill>
                <a:latin typeface="Times New Roman"/>
                <a:ea typeface="Times New Roman"/>
                <a:cs typeface="Times New Roman"/>
                <a:sym typeface="Times New Roman"/>
              </a:rPr>
              <a:t>; </a:t>
            </a:r>
            <a:r>
              <a:rPr i="0" lang="en-US" sz="1600" u="none" cap="none" strike="noStrike">
                <a:solidFill>
                  <a:schemeClr val="dk1"/>
                </a:solidFill>
                <a:latin typeface="Times New Roman"/>
                <a:ea typeface="Times New Roman"/>
                <a:cs typeface="Times New Roman"/>
                <a:sym typeface="Times New Roman"/>
              </a:rPr>
              <a:t>errors should be monitored through effects on the people scored, not aggregate accuracy alone</a:t>
            </a:r>
            <a:endParaRPr i="0" sz="1600" u="none" cap="none" strike="noStrike">
              <a:solidFill>
                <a:schemeClr val="dk1"/>
              </a:solidFill>
              <a:latin typeface="Times New Roman"/>
              <a:ea typeface="Times New Roman"/>
              <a:cs typeface="Times New Roman"/>
              <a:sym typeface="Times New Roman"/>
            </a:endParaRPr>
          </a:p>
        </p:txBody>
      </p:sp>
      <p:sp>
        <p:nvSpPr>
          <p:cNvPr id="422" name="Google Shape;422;p20"/>
          <p:cNvSpPr/>
          <p:nvPr/>
        </p:nvSpPr>
        <p:spPr>
          <a:xfrm>
            <a:off x="548640" y="2468880"/>
            <a:ext cx="11064240" cy="960120"/>
          </a:xfrm>
          <a:prstGeom prst="roundRect">
            <a:avLst>
              <a:gd fmla="val 5714"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23" name="Google Shape;423;p20"/>
          <p:cNvSpPr/>
          <p:nvPr/>
        </p:nvSpPr>
        <p:spPr>
          <a:xfrm>
            <a:off x="777240" y="2542032"/>
            <a:ext cx="23774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62C"/>
              </a:buClr>
              <a:buSzPts val="1300"/>
              <a:buFont typeface="Calibri"/>
              <a:buNone/>
            </a:pPr>
            <a:r>
              <a:rPr b="1" i="0" lang="en-US" sz="1300" u="none" cap="none" strike="noStrike">
                <a:solidFill>
                  <a:srgbClr val="E0762C"/>
                </a:solidFill>
                <a:latin typeface="Times New Roman"/>
                <a:ea typeface="Times New Roman"/>
                <a:cs typeface="Times New Roman"/>
                <a:sym typeface="Times New Roman"/>
              </a:rPr>
              <a:t>Redress</a:t>
            </a:r>
            <a:endParaRPr i="0" sz="1300" u="none" cap="none" strike="noStrike">
              <a:solidFill>
                <a:schemeClr val="dk1"/>
              </a:solidFill>
              <a:latin typeface="Times New Roman"/>
              <a:ea typeface="Times New Roman"/>
              <a:cs typeface="Times New Roman"/>
              <a:sym typeface="Times New Roman"/>
            </a:endParaRPr>
          </a:p>
        </p:txBody>
      </p:sp>
      <p:sp>
        <p:nvSpPr>
          <p:cNvPr id="424" name="Google Shape;424;p20"/>
          <p:cNvSpPr/>
          <p:nvPr/>
        </p:nvSpPr>
        <p:spPr>
          <a:xfrm>
            <a:off x="3246120" y="2542032"/>
            <a:ext cx="81381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50"/>
              <a:buFont typeface="Calibri"/>
              <a:buNone/>
            </a:pPr>
            <a:r>
              <a:rPr i="0" lang="en-US" sz="1600" u="none" cap="none" strike="noStrike">
                <a:solidFill>
                  <a:schemeClr val="dk1"/>
                </a:solidFill>
                <a:latin typeface="Times New Roman"/>
                <a:ea typeface="Times New Roman"/>
                <a:cs typeface="Times New Roman"/>
                <a:sym typeface="Times New Roman"/>
              </a:rPr>
              <a:t>None exists today </a:t>
            </a:r>
            <a:r>
              <a:rPr lang="en-US" sz="1600">
                <a:solidFill>
                  <a:schemeClr val="dk1"/>
                </a:solidFill>
                <a:latin typeface="Times New Roman"/>
                <a:ea typeface="Times New Roman"/>
                <a:cs typeface="Times New Roman"/>
                <a:sym typeface="Times New Roman"/>
              </a:rPr>
              <a:t>given </a:t>
            </a:r>
            <a:r>
              <a:rPr i="0" lang="en-US" sz="1600" u="none" cap="none" strike="noStrike">
                <a:solidFill>
                  <a:schemeClr val="dk1"/>
                </a:solidFill>
                <a:latin typeface="Times New Roman"/>
                <a:ea typeface="Times New Roman"/>
                <a:cs typeface="Times New Roman"/>
                <a:sym typeface="Times New Roman"/>
              </a:rPr>
              <a:t>this is a research prototype. If deployed, any household excluded from aid on this model</a:t>
            </a:r>
            <a:r>
              <a:rPr lang="en-US" sz="1600">
                <a:solidFill>
                  <a:schemeClr val="dk1"/>
                </a:solidFill>
                <a:latin typeface="Times New Roman"/>
                <a:ea typeface="Times New Roman"/>
                <a:cs typeface="Times New Roman"/>
                <a:sym typeface="Times New Roman"/>
              </a:rPr>
              <a:t>’</a:t>
            </a:r>
            <a:r>
              <a:rPr i="0" lang="en-US" sz="1600" u="none" cap="none" strike="noStrike">
                <a:solidFill>
                  <a:schemeClr val="dk1"/>
                </a:solidFill>
                <a:latin typeface="Times New Roman"/>
                <a:ea typeface="Times New Roman"/>
                <a:cs typeface="Times New Roman"/>
                <a:sym typeface="Times New Roman"/>
              </a:rPr>
              <a:t>s basis should have the right to a human follow-up visit within 14 days; county staff retain final authority on eligibility not the mo</a:t>
            </a:r>
            <a:r>
              <a:rPr lang="en-US" sz="1600">
                <a:solidFill>
                  <a:schemeClr val="dk1"/>
                </a:solidFill>
                <a:latin typeface="Times New Roman"/>
                <a:ea typeface="Times New Roman"/>
                <a:cs typeface="Times New Roman"/>
                <a:sym typeface="Times New Roman"/>
              </a:rPr>
              <a:t>del</a:t>
            </a:r>
            <a:endParaRPr i="0" sz="1600" u="none" cap="none" strike="noStrike">
              <a:solidFill>
                <a:schemeClr val="dk1"/>
              </a:solidFill>
              <a:latin typeface="Times New Roman"/>
              <a:ea typeface="Times New Roman"/>
              <a:cs typeface="Times New Roman"/>
              <a:sym typeface="Times New Roman"/>
            </a:endParaRPr>
          </a:p>
        </p:txBody>
      </p:sp>
      <p:sp>
        <p:nvSpPr>
          <p:cNvPr id="425" name="Google Shape;425;p20"/>
          <p:cNvSpPr/>
          <p:nvPr/>
        </p:nvSpPr>
        <p:spPr>
          <a:xfrm>
            <a:off x="548640" y="3566160"/>
            <a:ext cx="11064240" cy="960120"/>
          </a:xfrm>
          <a:prstGeom prst="roundRect">
            <a:avLst>
              <a:gd fmla="val 5714" name="adj"/>
            </a:avLst>
          </a:prstGeom>
          <a:solidFill>
            <a:srgbClr val="F7F8FC"/>
          </a:solidFill>
          <a:ln cap="flat" cmpd="sng" w="12700">
            <a:solidFill>
              <a:srgbClr val="E4E6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26" name="Google Shape;426;p20"/>
          <p:cNvSpPr/>
          <p:nvPr/>
        </p:nvSpPr>
        <p:spPr>
          <a:xfrm>
            <a:off x="777240" y="3639312"/>
            <a:ext cx="23774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762C"/>
              </a:buClr>
              <a:buSzPts val="1300"/>
              <a:buFont typeface="Calibri"/>
              <a:buNone/>
            </a:pPr>
            <a:r>
              <a:rPr b="1" i="0" lang="en-US" sz="1300" u="none" cap="none" strike="noStrike">
                <a:solidFill>
                  <a:srgbClr val="E0762C"/>
                </a:solidFill>
                <a:latin typeface="Times New Roman"/>
                <a:ea typeface="Times New Roman"/>
                <a:cs typeface="Times New Roman"/>
                <a:sym typeface="Times New Roman"/>
              </a:rPr>
              <a:t>Monitoring</a:t>
            </a:r>
            <a:endParaRPr i="0" sz="1300" u="none" cap="none" strike="noStrike">
              <a:solidFill>
                <a:schemeClr val="dk1"/>
              </a:solidFill>
              <a:latin typeface="Times New Roman"/>
              <a:ea typeface="Times New Roman"/>
              <a:cs typeface="Times New Roman"/>
              <a:sym typeface="Times New Roman"/>
            </a:endParaRPr>
          </a:p>
        </p:txBody>
      </p:sp>
      <p:sp>
        <p:nvSpPr>
          <p:cNvPr id="427" name="Google Shape;427;p20"/>
          <p:cNvSpPr/>
          <p:nvPr/>
        </p:nvSpPr>
        <p:spPr>
          <a:xfrm>
            <a:off x="3246120" y="3639312"/>
            <a:ext cx="81381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50"/>
              <a:buFont typeface="Calibri"/>
              <a:buNone/>
            </a:pPr>
            <a:r>
              <a:rPr i="0" lang="en-US" sz="1600" u="none" cap="none" strike="noStrike">
                <a:solidFill>
                  <a:schemeClr val="dk1"/>
                </a:solidFill>
                <a:latin typeface="Times New Roman"/>
                <a:ea typeface="Times New Roman"/>
                <a:cs typeface="Times New Roman"/>
                <a:sym typeface="Times New Roman"/>
              </a:rPr>
              <a:t>Trained on 2020–21 COVID-shock data. Re-evaluate macro F1 and the urban/rural gap against newer data before any real use; retrain or withdraw if macro F1 falls below 0.40 or the recall gap widens past 12 points</a:t>
            </a:r>
            <a:endParaRPr i="0" sz="1600" u="none" cap="none" strike="noStrike">
              <a:solidFill>
                <a:schemeClr val="dk1"/>
              </a:solidFill>
              <a:latin typeface="Times New Roman"/>
              <a:ea typeface="Times New Roman"/>
              <a:cs typeface="Times New Roman"/>
              <a:sym typeface="Times New Roman"/>
            </a:endParaRPr>
          </a:p>
        </p:txBody>
      </p:sp>
      <p:sp>
        <p:nvSpPr>
          <p:cNvPr id="428" name="Google Shape;428;p20"/>
          <p:cNvSpPr/>
          <p:nvPr/>
        </p:nvSpPr>
        <p:spPr>
          <a:xfrm>
            <a:off x="548640" y="4617720"/>
            <a:ext cx="11064240" cy="1600200"/>
          </a:xfrm>
          <a:prstGeom prst="roundRect">
            <a:avLst>
              <a:gd fmla="val 4571"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29" name="Google Shape;429;p20"/>
          <p:cNvSpPr/>
          <p:nvPr/>
        </p:nvSpPr>
        <p:spPr>
          <a:xfrm>
            <a:off x="822950" y="4617725"/>
            <a:ext cx="10848300" cy="14904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E8B93D"/>
              </a:buClr>
              <a:buSzPts val="1350"/>
              <a:buFont typeface="Calibri"/>
              <a:buNone/>
            </a:pPr>
            <a:r>
              <a:rPr b="1" i="0" lang="en-US" sz="1600" u="none" cap="none" strike="noStrike">
                <a:solidFill>
                  <a:srgbClr val="E8B93D"/>
                </a:solidFill>
                <a:latin typeface="Times New Roman"/>
                <a:ea typeface="Times New Roman"/>
                <a:cs typeface="Times New Roman"/>
                <a:sym typeface="Times New Roman"/>
              </a:rPr>
              <a:t>Three findings.  </a:t>
            </a:r>
            <a:endParaRPr i="0" sz="1600" u="none" cap="none" strike="noStrike">
              <a:solidFill>
                <a:schemeClr val="dk1"/>
              </a:solidFill>
              <a:latin typeface="Times New Roman"/>
              <a:ea typeface="Times New Roman"/>
              <a:cs typeface="Times New Roman"/>
              <a:sym typeface="Times New Roman"/>
            </a:endParaRPr>
          </a:p>
          <a:p>
            <a:pPr indent="0" lvl="0" marL="0" marR="0" rtl="0" algn="l">
              <a:lnSpc>
                <a:spcPct val="112000"/>
              </a:lnSpc>
              <a:spcBef>
                <a:spcPts val="400"/>
              </a:spcBef>
              <a:spcAft>
                <a:spcPts val="0"/>
              </a:spcAft>
              <a:buClr>
                <a:srgbClr val="CADCFC"/>
              </a:buClr>
              <a:buSzPts val="1150"/>
              <a:buFont typeface="Calibri"/>
              <a:buNone/>
            </a:pPr>
            <a:r>
              <a:rPr i="0" lang="en-US" sz="1600" u="none" cap="none" strike="noStrike">
                <a:solidFill>
                  <a:srgbClr val="CADCFC"/>
                </a:solidFill>
                <a:latin typeface="Times New Roman"/>
                <a:ea typeface="Times New Roman"/>
                <a:cs typeface="Times New Roman"/>
                <a:sym typeface="Times New Roman"/>
              </a:rPr>
              <a:t>1) Housing and coping-behaviour features, not just income, drive predictions.  2) The model's highest-risk counties independently match Kenya's official El Niño risk map.  3) A rural performance gap must close before this tool is fair to deploy for targeting.</a:t>
            </a:r>
            <a:endParaRPr i="0" sz="1600" u="none" cap="none" strike="noStrike">
              <a:solidFill>
                <a:schemeClr val="dk1"/>
              </a:solidFill>
              <a:latin typeface="Times New Roman"/>
              <a:ea typeface="Times New Roman"/>
              <a:cs typeface="Times New Roman"/>
              <a:sym typeface="Times New Roman"/>
            </a:endParaRPr>
          </a:p>
          <a:p>
            <a:pPr indent="0" lvl="0" marL="0" marR="0" rtl="0" algn="l">
              <a:lnSpc>
                <a:spcPct val="112000"/>
              </a:lnSpc>
              <a:spcBef>
                <a:spcPts val="600"/>
              </a:spcBef>
              <a:spcAft>
                <a:spcPts val="0"/>
              </a:spcAft>
              <a:buClr>
                <a:srgbClr val="FFFFFF"/>
              </a:buClr>
              <a:buSzPts val="1150"/>
              <a:buFont typeface="Calibri"/>
              <a:buNone/>
            </a:pPr>
            <a:r>
              <a:rPr i="1" lang="en-US" sz="1600" u="none" cap="none" strike="noStrike">
                <a:solidFill>
                  <a:srgbClr val="FFFFFF"/>
                </a:solidFill>
                <a:latin typeface="Times New Roman"/>
                <a:ea typeface="Times New Roman"/>
                <a:cs typeface="Times New Roman"/>
                <a:sym typeface="Times New Roman"/>
              </a:rPr>
              <a:t>Next step: partner with a county or NGO to pilot the bulk-screening workflow on live pre-positioning data ahead of the September 2026 El Niño peak.</a:t>
            </a:r>
            <a:endParaRPr i="0" sz="1600" u="none" cap="none" strike="noStrike">
              <a:solidFill>
                <a:schemeClr val="dk1"/>
              </a:solidFill>
              <a:latin typeface="Times New Roman"/>
              <a:ea typeface="Times New Roman"/>
              <a:cs typeface="Times New Roman"/>
              <a:sym typeface="Times New Roman"/>
            </a:endParaRPr>
          </a:p>
        </p:txBody>
      </p:sp>
      <p:sp>
        <p:nvSpPr>
          <p:cNvPr id="430" name="Google Shape;430;p20"/>
          <p:cNvSpPr/>
          <p:nvPr/>
        </p:nvSpPr>
        <p:spPr>
          <a:xfrm>
            <a:off x="457200" y="6510528"/>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Ngao Labs Capstone · Group 10 — Food Security Screening</a:t>
            </a:r>
            <a:endParaRPr i="0" sz="900" u="none" cap="none" strike="noStrike">
              <a:solidFill>
                <a:schemeClr val="dk1"/>
              </a:solidFill>
              <a:latin typeface="Times New Roman"/>
              <a:ea typeface="Times New Roman"/>
              <a:cs typeface="Times New Roman"/>
              <a:sym typeface="Times New Roman"/>
            </a:endParaRPr>
          </a:p>
        </p:txBody>
      </p:sp>
      <p:sp>
        <p:nvSpPr>
          <p:cNvPr id="431" name="Google Shape;431;p20"/>
          <p:cNvSpPr/>
          <p:nvPr/>
        </p:nvSpPr>
        <p:spPr>
          <a:xfrm>
            <a:off x="11430000" y="6510528"/>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A0B8"/>
              </a:buClr>
              <a:buSzPts val="900"/>
              <a:buFont typeface="Calibri"/>
              <a:buNone/>
            </a:pPr>
            <a:r>
              <a:rPr i="0" lang="en-US" sz="900" u="none" cap="none" strike="noStrike">
                <a:solidFill>
                  <a:srgbClr val="9AA0B8"/>
                </a:solidFill>
                <a:latin typeface="Times New Roman"/>
                <a:ea typeface="Times New Roman"/>
                <a:cs typeface="Times New Roman"/>
                <a:sym typeface="Times New Roman"/>
              </a:rPr>
              <a:t>20</a:t>
            </a:r>
            <a:endParaRPr i="0" sz="9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436" name="Shape 436"/>
        <p:cNvGrpSpPr/>
        <p:nvPr/>
      </p:nvGrpSpPr>
      <p:grpSpPr>
        <a:xfrm>
          <a:off x="0" y="0"/>
          <a:ext cx="0" cy="0"/>
          <a:chOff x="0" y="0"/>
          <a:chExt cx="0" cy="0"/>
        </a:xfrm>
      </p:grpSpPr>
      <p:sp>
        <p:nvSpPr>
          <p:cNvPr id="437" name="Google Shape;437;g3f6efb0ddcc_0_4"/>
          <p:cNvSpPr/>
          <p:nvPr/>
        </p:nvSpPr>
        <p:spPr>
          <a:xfrm>
            <a:off x="731520" y="5394960"/>
            <a:ext cx="548700" cy="548700"/>
          </a:xfrm>
          <a:prstGeom prst="ellipse">
            <a:avLst/>
          </a:prstGeom>
          <a:solidFill>
            <a:srgbClr val="6E9B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g3f6efb0ddcc_0_4"/>
          <p:cNvSpPr/>
          <p:nvPr/>
        </p:nvSpPr>
        <p:spPr>
          <a:xfrm>
            <a:off x="1463040" y="5852160"/>
            <a:ext cx="320100" cy="320100"/>
          </a:xfrm>
          <a:prstGeom prst="ellipse">
            <a:avLst/>
          </a:prstGeom>
          <a:solidFill>
            <a:srgbClr val="E8A3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3f6efb0ddcc_0_4"/>
          <p:cNvSpPr/>
          <p:nvPr/>
        </p:nvSpPr>
        <p:spPr>
          <a:xfrm>
            <a:off x="548640" y="6035040"/>
            <a:ext cx="201300" cy="201300"/>
          </a:xfrm>
          <a:prstGeom prst="ellipse">
            <a:avLst/>
          </a:prstGeom>
          <a:solidFill>
            <a:srgbClr val="D97B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3f6efb0ddcc_0_4"/>
          <p:cNvSpPr/>
          <p:nvPr/>
        </p:nvSpPr>
        <p:spPr>
          <a:xfrm>
            <a:off x="1920240" y="5212080"/>
            <a:ext cx="183000" cy="183000"/>
          </a:xfrm>
          <a:prstGeom prst="ellipse">
            <a:avLst/>
          </a:prstGeom>
          <a:solidFill>
            <a:srgbClr val="C144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g3f6efb0ddcc_0_4"/>
          <p:cNvSpPr/>
          <p:nvPr/>
        </p:nvSpPr>
        <p:spPr>
          <a:xfrm>
            <a:off x="640080" y="2286000"/>
            <a:ext cx="9144000" cy="109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Thank you</a:t>
            </a:r>
            <a:endParaRPr b="0" i="0" sz="4400" u="none" cap="none" strike="noStrike">
              <a:solidFill>
                <a:schemeClr val="dk1"/>
              </a:solidFill>
              <a:latin typeface="Calibri"/>
              <a:ea typeface="Calibri"/>
              <a:cs typeface="Calibri"/>
              <a:sym typeface="Calibri"/>
            </a:endParaRPr>
          </a:p>
        </p:txBody>
      </p:sp>
      <p:sp>
        <p:nvSpPr>
          <p:cNvPr id="442" name="Google Shape;442;g3f6efb0ddcc_0_4"/>
          <p:cNvSpPr/>
          <p:nvPr/>
        </p:nvSpPr>
        <p:spPr>
          <a:xfrm>
            <a:off x="640080" y="3291840"/>
            <a:ext cx="91440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E9B4F"/>
              </a:buClr>
              <a:buSzPts val="1800"/>
              <a:buFont typeface="Calibri"/>
              <a:buNone/>
            </a:pPr>
            <a:r>
              <a:rPr b="0" i="1" lang="en-US" sz="1800" u="none" cap="none" strike="noStrike">
                <a:solidFill>
                  <a:schemeClr val="lt1"/>
                </a:solidFill>
                <a:latin typeface="Calibri"/>
                <a:ea typeface="Calibri"/>
                <a:cs typeface="Calibri"/>
                <a:sym typeface="Calibri"/>
              </a:rPr>
              <a:t>Questions </a:t>
            </a:r>
            <a:r>
              <a:rPr i="1" lang="en-US" sz="1800">
                <a:solidFill>
                  <a:schemeClr val="lt1"/>
                </a:solidFill>
                <a:latin typeface="Calibri"/>
                <a:ea typeface="Calibri"/>
                <a:cs typeface="Calibri"/>
                <a:sym typeface="Calibri"/>
              </a:rPr>
              <a:t>and</a:t>
            </a:r>
            <a:r>
              <a:rPr b="0" i="1" lang="en-US" sz="1800" u="none" cap="none" strike="noStrike">
                <a:solidFill>
                  <a:schemeClr val="lt1"/>
                </a:solidFill>
                <a:latin typeface="Calibri"/>
                <a:ea typeface="Calibri"/>
                <a:cs typeface="Calibri"/>
                <a:sym typeface="Calibri"/>
              </a:rPr>
              <a:t> discussion</a:t>
            </a:r>
            <a:endParaRPr b="0" i="0" sz="1800" u="none" cap="none" strike="noStrike">
              <a:solidFill>
                <a:schemeClr val="lt1"/>
              </a:solidFill>
              <a:latin typeface="Calibri"/>
              <a:ea typeface="Calibri"/>
              <a:cs typeface="Calibri"/>
              <a:sym typeface="Calibri"/>
            </a:endParaRPr>
          </a:p>
        </p:txBody>
      </p:sp>
      <p:cxnSp>
        <p:nvCxnSpPr>
          <p:cNvPr id="443" name="Google Shape;443;g3f6efb0ddcc_0_4"/>
          <p:cNvCxnSpPr/>
          <p:nvPr/>
        </p:nvCxnSpPr>
        <p:spPr>
          <a:xfrm>
            <a:off x="640080" y="4023360"/>
            <a:ext cx="2011800" cy="0"/>
          </a:xfrm>
          <a:prstGeom prst="straightConnector1">
            <a:avLst/>
          </a:prstGeom>
          <a:noFill/>
          <a:ln cap="flat" cmpd="sng" w="25400">
            <a:solidFill>
              <a:schemeClr val="accent2"/>
            </a:solidFill>
            <a:prstDash val="solid"/>
            <a:round/>
            <a:headEnd len="sm" w="sm" type="none"/>
            <a:tailEnd len="sm" w="sm" type="none"/>
          </a:ln>
        </p:spPr>
      </p:cxnSp>
      <p:sp>
        <p:nvSpPr>
          <p:cNvPr id="444" name="Google Shape;444;g3f6efb0ddcc_0_4"/>
          <p:cNvSpPr/>
          <p:nvPr/>
        </p:nvSpPr>
        <p:spPr>
          <a:xfrm>
            <a:off x="640080" y="4251960"/>
            <a:ext cx="9144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FC79E"/>
              </a:buClr>
              <a:buSzPts val="1200"/>
              <a:buFont typeface="Calibri"/>
              <a:buNone/>
            </a:pPr>
            <a:r>
              <a:rPr b="0" i="0" lang="en-US" sz="1200" u="none" cap="none" strike="noStrike">
                <a:solidFill>
                  <a:schemeClr val="accent2"/>
                </a:solidFill>
                <a:latin typeface="Calibri"/>
                <a:ea typeface="Calibri"/>
                <a:cs typeface="Calibri"/>
                <a:sym typeface="Calibri"/>
              </a:rPr>
              <a:t>Group 10  •  Foundations of Data Science &amp; AI  •  Ngao Labs Program</a:t>
            </a:r>
            <a:endParaRPr b="0" i="0" sz="1200" u="none" cap="none" strike="noStrike">
              <a:solidFill>
                <a:schemeClr val="accent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2026-08-12T21:24:15Z</dcterms:created>
  <dc:creator>PptxGenJS</dc:creator>
</cp:coreProperties>
</file>